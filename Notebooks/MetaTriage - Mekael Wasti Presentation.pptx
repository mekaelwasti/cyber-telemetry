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81" r:id="rId2"/>
    <p:sldId id="282" r:id="rId3"/>
    <p:sldId id="283" r:id="rId4"/>
    <p:sldId id="257" r:id="rId5"/>
    <p:sldId id="287" r:id="rId6"/>
    <p:sldId id="284" r:id="rId7"/>
    <p:sldId id="285" r:id="rId8"/>
    <p:sldId id="259" r:id="rId9"/>
    <p:sldId id="286" r:id="rId10"/>
    <p:sldId id="288" r:id="rId11"/>
    <p:sldId id="289" r:id="rId12"/>
    <p:sldId id="262" r:id="rId13"/>
    <p:sldId id="290" r:id="rId14"/>
    <p:sldId id="291" r:id="rId15"/>
    <p:sldId id="306" r:id="rId16"/>
    <p:sldId id="294" r:id="rId17"/>
    <p:sldId id="295" r:id="rId18"/>
    <p:sldId id="297" r:id="rId19"/>
    <p:sldId id="298" r:id="rId20"/>
    <p:sldId id="299" r:id="rId21"/>
    <p:sldId id="292" r:id="rId22"/>
    <p:sldId id="307" r:id="rId23"/>
    <p:sldId id="300" r:id="rId24"/>
    <p:sldId id="301" r:id="rId25"/>
    <p:sldId id="304" r:id="rId26"/>
    <p:sldId id="302" r:id="rId27"/>
    <p:sldId id="303" r:id="rId28"/>
    <p:sldId id="305" r:id="rId29"/>
    <p:sldId id="308" r:id="rId30"/>
    <p:sldId id="267" r:id="rId31"/>
    <p:sldId id="268" r:id="rId32"/>
    <p:sldId id="270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FD"/>
    <a:srgbClr val="FFFFFF"/>
    <a:srgbClr val="F7F8FA"/>
    <a:srgbClr val="B0562A"/>
    <a:srgbClr val="5E9CAA"/>
    <a:srgbClr val="EDF5FF"/>
    <a:srgbClr val="E1EEFF"/>
    <a:srgbClr val="BBD8FF"/>
    <a:srgbClr val="97C9FF"/>
    <a:srgbClr val="CB26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45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57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A1217-9DAB-29A5-3DFB-651BD94D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8CB0A-3AB0-1391-EA30-AAC7DE552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62F44-37A2-6980-A277-FAADDCBD2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that this is a methodology and systems talk, not a claim that one model wins. The deck moves from cyber telemetry to the mathematical machinery and back to a decision.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88DA6-05B5-83ED-44CB-D297D495F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33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43EF-1513-AB1F-D429-0B543C625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5F7B2-3D44-AB1A-CC7E-87FB50846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61EB6-E091-E030-D671-88F4DAADD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that this is a methodology and systems talk, not a claim that one model wins. The deck moves from cyber telemetry to the mathematical machinery and back to a decision.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B0645-345C-CBF6-23AC-F167E86B4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31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mathematical audience enough cyber context to read the data. Telemetry is just a stream of typed records. Point at the highlighted rows: these are the raw observations everything else is built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9A69-D7A5-F1FE-E334-68A8D6C0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EC37D-539A-88E0-1B11-54F411510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37D48-6921-637D-F007-CD9CE0D59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mathematical audience enough cyber context to read the data. Telemetry is just a stream of typed records. Point at the highlighted rows: these are the raw observations everything else is built from.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8887D-043B-F51B-1675-7031F8C90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49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9F29-23DA-1306-8B53-AA484663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98E61-61B2-1652-1B7D-74D93BFBD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F6F22-3B6C-05BD-0E58-5E1C8BB5B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mathematical audience enough cyber context to read the data. Telemetry is just a stream of typed records. Point at the highlighted rows: these are the raw observations everything else is built from.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F27B3-446B-29AD-6895-7E8ACB86E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0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3BAC-2DFE-7E1E-66EF-534AF2FE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F9165-B6E0-9B5D-0EAF-C5D2D8098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7E2BD-98AB-3411-7563-3B66166B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mathematical audience enough cyber context to read the data. Telemetry is just a stream of typed records. Point at the highlighted rows: these are the raw observations everything else is built from.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A126E-2B75-D669-C163-6991A7097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13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for systematic comparison, not an accusation. Each dataset exposes different entities and therefore different kinds of anomalous structure; a method can match one structure and fail on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FA7F-1492-1A14-AEEA-7183A3B7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B15DD-A30D-1C7F-A5CE-284DB7ABC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F4AD2-FEEA-0061-AAA0-370BE84CB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mathematical audience enough cyber context to read the data. Telemetry is just a stream of typed records. Point at the highlighted rows: these are the raw observations everything else is built from.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AD2C1-3A79-E056-04F4-05BA2DD73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39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0BBC-8E8E-A0FF-9B4C-74CF631A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F01DD-1A10-5FAE-1873-858C9842F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D0A28-0506-F0A4-A2B8-0C81F9661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5DA9E-474B-7BC7-BC49-B33D36BBB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13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43CC-9891-8E72-7EAF-4572E2E0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64948-0A95-69FA-E245-62E46C12A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7C335-5983-86B4-764D-D6362426D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165B5-70F6-5A61-D96F-01910D915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14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2. Nodes are review units and entities; typed edges are relationships actually recorded in the data. Stress that this graph is observed, not computed from any similarity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16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8036-8F03-DE1D-B5E9-6BCB16B6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8F3C6-1A07-B67D-8163-7EFCB282B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36314-DE90-04F2-DA6E-00E2A47D4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DA79A-0967-C0B0-A972-97277AD35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55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3B59E-5842-A6CA-4C45-687A545C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87223-7D07-26D3-07EB-C5672FE64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69A24-190B-EBC2-786B-7316D0D0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67C64-AE2B-063E-3460-23F140CB6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75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BB7C-CB89-22A7-2F28-5F96EA9E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3C600-D894-4395-FCB3-D1F436FB8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A3E64-A050-7E20-D03E-1A08138D5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0A654-94C3-EC13-D6DD-043A29CF7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91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325C-2443-5B4C-6D38-E2B58DF0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BD370-8409-ABF5-EDB1-0A03040D2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E4350-1452-55F4-DC33-0E21C2C85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5A3A1-B4C0-0B87-DEF4-FCCBC1CC8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37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7A52-D321-3AD8-C8A7-F27DB671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539-ECA7-62A8-A5C0-F4C8BFD1D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A6C68-2C7E-8B60-D683-C86EAB07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C57EE-6BFC-8199-FF8D-2BA025688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39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8918-FA62-3BAE-F42F-96779CC17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19C31-C2F0-B4E1-356E-4931AAFB4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EDDD3-01D3-8738-2035-1A99A8F6D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16102-EBED-15EA-C630-87E5630AA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10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E8B0-725B-04B6-E705-72A27D0C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E200B-3C31-03EB-A36C-791E95469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47C4F-B63B-1994-1479-D0C0884F9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FF62A-1AD2-B1CD-DC14-A703CA421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91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9CDF-0D45-C458-DF84-6A6B5E42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70E45-22A3-340E-82E1-719036319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98C50-ECC6-D08D-ACCC-1599D534B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AB79F-2224-FFF2-7846-E67B44CFA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33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2E06A-CC98-F305-7DD5-08D77551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D862A-0AC3-CA9C-231F-6F0A77F8A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2AB04-9ACA-F220-F70F-40F9C71EB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C2D66-4B9E-C57F-DAF8-7D3041D87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13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043C-150A-D60E-5701-36C0E293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D1C45-87CF-0930-0719-D6BFC7BE6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53A6C-5E1F-8BDF-5808-E631983F0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A4451-8C21-8D8A-FAF2-EFF31E82D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991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97EE-D3B7-9356-ADCD-2201C974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D2EEC-DE0D-9B2A-D041-BDC2D3A3C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5E71-4373-7448-E2DA-DB7D64603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68B33-018C-4A95-5582-D035CFF9B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732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DA98-AE8B-52C2-64E1-1A21FBB4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A4911-BEF0-072F-4C5A-228D3E422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A0F2C-4E2B-FB72-10C8-ABE3949D4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BF8B8-2A4A-D748-85FE-2782E386D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44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5C5C-169D-BB82-6EBB-E62B424B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B79DF-E706-24EB-C0FC-4F5D5E2BF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0BC52-D142-E95D-EEC8-5AFEA3584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849E2-1504-B11D-37DB-693A41A3C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94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BA90-C931-32F1-358A-201B39BA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A0E13-5A23-99D2-C868-EC8177F73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56E36-E608-3616-708D-A7E0C7AF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F12E6-15C7-751B-CC2D-F416B6435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285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5BFCC-1E2B-A188-9902-173C426B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C0AC3-F5D8-FFB8-618E-C24C86BD1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EA57E-A7A3-F98A-B8C7-1DAC3190E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6D299-F290-39C0-C3A1-6DF4EFA56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2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E84A-81D2-B5D1-5FE3-B6823433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E9BAE-732A-B000-04DC-41E92E67B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8A948-73E4-F42B-5795-2BB8470E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4323-0268-B7D0-424D-2BF17ED73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143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6BA5-4A9A-0F63-C531-705794E1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D3082-167C-8900-D7CC-4F622F80A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60AF2-A1C9-585C-7E45-7F51A4FBF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overview slide. Walk the eight stages once, slowly. Emphasise that stages 5 to 7 are the scientific part and that stage 8 can end in abstention. Labels only judge the queue at stage 7; they never build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4BD7F-471B-FDE9-EEF0-8E924C9E0E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28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7 and 8 in practice. Read the matrix as directions, not scores. The headline fields are placeholders until verified. Emphasise that the procedure kept the negative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contribution without naming a winning model. The four-step loop is how the procedure is meant to be used going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with the framing question: what should stay fixed and what should adapt when telemetry behaviour changes?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35B5E7-A66C-F453-C682-0A025FF306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3254038" y="63500"/>
            <a:ext cx="49958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UNCLASSIFIED//OFFICIAL USE ONLY / NON CLASSIFIÉ//RÉSERVÉ À DES FINS OFFICIELLES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Relationship Id="rId9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0BD1945-D006-C527-28E3-A5000D2DC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5824283"/>
            <a:ext cx="16459201" cy="3057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19C51D-CCB8-09F9-7597-AEBC52777272}"/>
              </a:ext>
            </a:extLst>
          </p:cNvPr>
          <p:cNvSpPr/>
          <p:nvPr/>
        </p:nvSpPr>
        <p:spPr>
          <a:xfrm>
            <a:off x="19216164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D6066-D364-D9B7-5D14-91730C29CC9D}"/>
              </a:ext>
            </a:extLst>
          </p:cNvPr>
          <p:cNvSpPr/>
          <p:nvPr/>
        </p:nvSpPr>
        <p:spPr>
          <a:xfrm>
            <a:off x="19554134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E97CF-03CA-DD0C-C93C-E4B20770124A}"/>
              </a:ext>
            </a:extLst>
          </p:cNvPr>
          <p:cNvSpPr/>
          <p:nvPr/>
        </p:nvSpPr>
        <p:spPr>
          <a:xfrm>
            <a:off x="19771400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BE4780-E00B-82A6-2D1A-88AD4DE72DA2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28AD4B-A44B-8A25-D920-5D9647EB6D4D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4B692B-C4EF-C72B-FAA6-F65AC7CE2519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8123E77-2005-BD0C-3BE0-570E41EF3100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CEF5E7-7338-5AC5-78ED-D37209C3E863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9F1646-87D2-6148-572E-DCBFBD1D52ED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80B9E5-FE37-2202-0DC7-1D2F769463E6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BE7CA3-7EF2-24FE-58D4-B67685016C91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60209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5DF64-52E1-DF8C-A3EC-8FBBBA90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F1AE44-0151-9DFA-C476-1BD2A7AF5F72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C8A26-CF1D-883D-01B2-733F251AAE5D}"/>
              </a:ext>
            </a:extLst>
          </p:cNvPr>
          <p:cNvSpPr/>
          <p:nvPr/>
        </p:nvSpPr>
        <p:spPr>
          <a:xfrm>
            <a:off x="857250" y="533400"/>
            <a:ext cx="431991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TIMC COLLOQUIUM</a:t>
            </a:r>
            <a:endParaRPr lang="en-US" sz="1425" b="1" dirty="0">
              <a:latin typeface="Avenir Next LT Pro" panose="020B05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2D9526-63C9-CF0C-0D0D-3F7A44BAFC8E}"/>
              </a:ext>
            </a:extLst>
          </p:cNvPr>
          <p:cNvSpPr/>
          <p:nvPr/>
        </p:nvSpPr>
        <p:spPr>
          <a:xfrm>
            <a:off x="15639030" y="533400"/>
            <a:ext cx="1970893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86" dirty="0" err="1">
                <a:solidFill>
                  <a:srgbClr val="8A9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MetaTriage</a:t>
            </a:r>
            <a:r>
              <a:rPr lang="en-US" sz="1425" kern="0" spc="86" dirty="0">
                <a:solidFill>
                  <a:srgbClr val="8A9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01</a:t>
            </a:r>
            <a:endParaRPr lang="en-US" sz="1425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BF5C05-BD97-3BF9-B02E-9385C4883FC1}"/>
              </a:ext>
            </a:extLst>
          </p:cNvPr>
          <p:cNvSpPr/>
          <p:nvPr/>
        </p:nvSpPr>
        <p:spPr>
          <a:xfrm>
            <a:off x="-6537779" y="4075656"/>
            <a:ext cx="14668501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248"/>
              </a:lnSpc>
              <a:buNone/>
            </a:pPr>
            <a:r>
              <a:rPr lang="en-US" sz="885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MetaTriage</a:t>
            </a:r>
            <a:endParaRPr lang="en-US" sz="8850" b="1" dirty="0">
              <a:latin typeface="Avenir Next LT Pro" panose="020B05040202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8C46AFF-9D9C-1871-FEBD-8A13709F8008}"/>
              </a:ext>
            </a:extLst>
          </p:cNvPr>
          <p:cNvSpPr/>
          <p:nvPr/>
        </p:nvSpPr>
        <p:spPr>
          <a:xfrm>
            <a:off x="857250" y="9301843"/>
            <a:ext cx="16573501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8A1D160-210D-F09B-D7B7-E722A925BBA8}"/>
              </a:ext>
            </a:extLst>
          </p:cNvPr>
          <p:cNvSpPr/>
          <p:nvPr/>
        </p:nvSpPr>
        <p:spPr>
          <a:xfrm>
            <a:off x="857250" y="9573986"/>
            <a:ext cx="123110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Mekael Wasti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9A89E9-7579-D813-E7E8-7FDA20645F28}"/>
              </a:ext>
            </a:extLst>
          </p:cNvPr>
          <p:cNvSpPr/>
          <p:nvPr/>
        </p:nvSpPr>
        <p:spPr>
          <a:xfrm>
            <a:off x="2431256" y="9573986"/>
            <a:ext cx="2498323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TIMC - Queen's University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12A7F6F-3829-C350-FF99-65228C33557C}"/>
              </a:ext>
            </a:extLst>
          </p:cNvPr>
          <p:cNvSpPr/>
          <p:nvPr/>
        </p:nvSpPr>
        <p:spPr>
          <a:xfrm>
            <a:off x="5121559" y="9573986"/>
            <a:ext cx="1616622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August 11th 2026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EE83EC-CF51-B16C-9017-16742F9CE163}"/>
              </a:ext>
            </a:extLst>
          </p:cNvPr>
          <p:cNvSpPr/>
          <p:nvPr/>
        </p:nvSpPr>
        <p:spPr>
          <a:xfrm>
            <a:off x="19216164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A9A0F8-82D9-5D1F-8B32-6E43265DBB33}"/>
              </a:ext>
            </a:extLst>
          </p:cNvPr>
          <p:cNvSpPr/>
          <p:nvPr/>
        </p:nvSpPr>
        <p:spPr>
          <a:xfrm>
            <a:off x="19554134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B28DFA-B8D6-6948-11E4-D24C13638D68}"/>
              </a:ext>
            </a:extLst>
          </p:cNvPr>
          <p:cNvSpPr/>
          <p:nvPr/>
        </p:nvSpPr>
        <p:spPr>
          <a:xfrm>
            <a:off x="19771400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0419E0B-DDD1-2962-DB8C-A21F61C00120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8CD8AA4-FBE6-8581-EB32-CB6DC38C6EC4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E45FE09-5C6C-C0ED-78F4-85C7044A8CDD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6864DA-B3E5-A197-A1E8-C06D389368FF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58BB15-9450-EFFD-553B-2D38521CE4D3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6E1CCBC-E5EE-EA23-B3D0-D76526D62E64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2156934-5FB2-AD89-D060-023DC606D45F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FB4A029-E146-E67E-7B6D-B7A3D4101DB2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A236BA63-D435-B239-C91A-039AFA2396B3}"/>
              </a:ext>
            </a:extLst>
          </p:cNvPr>
          <p:cNvSpPr/>
          <p:nvPr/>
        </p:nvSpPr>
        <p:spPr>
          <a:xfrm>
            <a:off x="-16444674" y="5569003"/>
            <a:ext cx="9906895" cy="2236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01"/>
              </a:lnSpc>
              <a:buNone/>
            </a:pPr>
            <a:r>
              <a:rPr lang="en-US" sz="320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 Meta-Methodology for Testing Cyber Telemetry Triage Methods Across Datasets</a:t>
            </a:r>
            <a:endParaRPr lang="en-US" sz="3200" b="1" dirty="0">
              <a:latin typeface="Avenir Next LT Pro" panose="020B0504020202020204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48F1DE3-5F77-7376-4DD1-93D43B6E8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9425" y="9501953"/>
            <a:ext cx="1856185" cy="7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6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F8CDF-C027-D8EB-B9D5-20688BF2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15453A-0C11-4123-281C-C6B07CDBBE51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A6A951-9C8D-4952-AA65-30BCCDA08391}"/>
              </a:ext>
            </a:extLst>
          </p:cNvPr>
          <p:cNvSpPr/>
          <p:nvPr/>
        </p:nvSpPr>
        <p:spPr>
          <a:xfrm>
            <a:off x="857250" y="533400"/>
            <a:ext cx="431991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TIMC COLLOQUIUM</a:t>
            </a:r>
            <a:endParaRPr lang="en-US" sz="1425" b="1" dirty="0">
              <a:latin typeface="Avenir Next LT Pro" panose="020B05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D0816A-DE6E-C01A-E00C-09DD66A1B822}"/>
              </a:ext>
            </a:extLst>
          </p:cNvPr>
          <p:cNvSpPr/>
          <p:nvPr/>
        </p:nvSpPr>
        <p:spPr>
          <a:xfrm>
            <a:off x="857250" y="4075656"/>
            <a:ext cx="14668501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248"/>
              </a:lnSpc>
              <a:buNone/>
            </a:pPr>
            <a:r>
              <a:rPr lang="en-US" sz="885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MetaTriage</a:t>
            </a:r>
            <a:endParaRPr lang="en-US" sz="8850" b="1" dirty="0">
              <a:latin typeface="Avenir Next LT Pro" panose="020B05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1640ED-8892-C299-6313-94D1B0E5BD8D}"/>
              </a:ext>
            </a:extLst>
          </p:cNvPr>
          <p:cNvSpPr/>
          <p:nvPr/>
        </p:nvSpPr>
        <p:spPr>
          <a:xfrm>
            <a:off x="857250" y="5569003"/>
            <a:ext cx="9906895" cy="2236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01"/>
              </a:lnSpc>
              <a:buNone/>
            </a:pPr>
            <a:r>
              <a:rPr lang="en-US" sz="320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 Meta-Methodology for Systematically Evaluating Cyber Telemetry Triage Methods Across Datasets</a:t>
            </a:r>
            <a:endParaRPr lang="en-US" sz="3200" b="1" dirty="0">
              <a:latin typeface="Avenir Next LT Pro" panose="020B05040202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8BC1357-7C10-C3EE-85E9-2C6A9CF9417D}"/>
              </a:ext>
            </a:extLst>
          </p:cNvPr>
          <p:cNvSpPr/>
          <p:nvPr/>
        </p:nvSpPr>
        <p:spPr>
          <a:xfrm>
            <a:off x="857250" y="9301843"/>
            <a:ext cx="16573501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EFDED1F-6BAF-9F4D-E221-BE185FD87BB2}"/>
              </a:ext>
            </a:extLst>
          </p:cNvPr>
          <p:cNvSpPr/>
          <p:nvPr/>
        </p:nvSpPr>
        <p:spPr>
          <a:xfrm>
            <a:off x="857250" y="9753600"/>
            <a:ext cx="123110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Mekael Wasti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B856335-340A-E106-06D5-68AE7A848280}"/>
              </a:ext>
            </a:extLst>
          </p:cNvPr>
          <p:cNvSpPr/>
          <p:nvPr/>
        </p:nvSpPr>
        <p:spPr>
          <a:xfrm>
            <a:off x="2431256" y="9753600"/>
            <a:ext cx="2498323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TIMC - Queen's University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78A591D-EAF8-8057-ED60-25071BD0CF0F}"/>
              </a:ext>
            </a:extLst>
          </p:cNvPr>
          <p:cNvSpPr/>
          <p:nvPr/>
        </p:nvSpPr>
        <p:spPr>
          <a:xfrm>
            <a:off x="5121559" y="9753600"/>
            <a:ext cx="1616622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August 11th 2026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C80D6F6-3E72-0020-1502-3857E9DF5257}"/>
              </a:ext>
            </a:extLst>
          </p:cNvPr>
          <p:cNvSpPr/>
          <p:nvPr/>
        </p:nvSpPr>
        <p:spPr>
          <a:xfrm>
            <a:off x="7617815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6957C34-3EA2-03BD-F192-10A4FB343378}"/>
              </a:ext>
            </a:extLst>
          </p:cNvPr>
          <p:cNvSpPr/>
          <p:nvPr/>
        </p:nvSpPr>
        <p:spPr>
          <a:xfrm>
            <a:off x="7955785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1C3D301-7924-B81E-220B-73F92E11881C}"/>
              </a:ext>
            </a:extLst>
          </p:cNvPr>
          <p:cNvSpPr/>
          <p:nvPr/>
        </p:nvSpPr>
        <p:spPr>
          <a:xfrm>
            <a:off x="8173051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E509637C-02B5-4345-9C7D-045D3F403534}"/>
              </a:ext>
            </a:extLst>
          </p:cNvPr>
          <p:cNvSpPr/>
          <p:nvPr/>
        </p:nvSpPr>
        <p:spPr>
          <a:xfrm>
            <a:off x="8969695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11CB3692-726C-3D8A-1F1D-09DAC45A22FB}"/>
              </a:ext>
            </a:extLst>
          </p:cNvPr>
          <p:cNvSpPr/>
          <p:nvPr/>
        </p:nvSpPr>
        <p:spPr>
          <a:xfrm>
            <a:off x="9891871" y="4571238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CD3722-D444-E197-BB5A-2DFC9D80057A}"/>
              </a:ext>
            </a:extLst>
          </p:cNvPr>
          <p:cNvSpPr/>
          <p:nvPr/>
        </p:nvSpPr>
        <p:spPr>
          <a:xfrm>
            <a:off x="9384916" y="392180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E0A047-20FF-5F85-8F38-B2BE986227B1}"/>
              </a:ext>
            </a:extLst>
          </p:cNvPr>
          <p:cNvSpPr/>
          <p:nvPr/>
        </p:nvSpPr>
        <p:spPr>
          <a:xfrm>
            <a:off x="9771168" y="3680401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E7F4EB-E16C-BBD7-E087-335C065E62AA}"/>
              </a:ext>
            </a:extLst>
          </p:cNvPr>
          <p:cNvSpPr/>
          <p:nvPr/>
        </p:nvSpPr>
        <p:spPr>
          <a:xfrm>
            <a:off x="9481479" y="4694311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5CBB92-76A5-A88D-BC6B-101E7C193D89}"/>
              </a:ext>
            </a:extLst>
          </p:cNvPr>
          <p:cNvSpPr/>
          <p:nvPr/>
        </p:nvSpPr>
        <p:spPr>
          <a:xfrm>
            <a:off x="10012575" y="425977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B057B3-E0F2-0E17-DF34-519B3D4FE1C6}"/>
              </a:ext>
            </a:extLst>
          </p:cNvPr>
          <p:cNvSpPr/>
          <p:nvPr/>
        </p:nvSpPr>
        <p:spPr>
          <a:xfrm>
            <a:off x="9674605" y="51771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AC1AD9-5B49-7B5A-8FF9-414CAC669B92}"/>
              </a:ext>
            </a:extLst>
          </p:cNvPr>
          <p:cNvSpPr/>
          <p:nvPr/>
        </p:nvSpPr>
        <p:spPr>
          <a:xfrm>
            <a:off x="10109138" y="498400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F59EA41-2F41-F2E4-867F-317ED5B98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245094" y="3467866"/>
            <a:ext cx="247650" cy="247650"/>
          </a:xfrm>
          <a:prstGeom prst="rect">
            <a:avLst/>
          </a:prstGeom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371E70FB-394B-8837-4629-8F8C390E5B8B}"/>
              </a:ext>
            </a:extLst>
          </p:cNvPr>
          <p:cNvSpPr/>
          <p:nvPr/>
        </p:nvSpPr>
        <p:spPr>
          <a:xfrm>
            <a:off x="-13245094" y="3886966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ADBFAE1B-A939-CD78-7F20-AD9BC500EDBE}"/>
              </a:ext>
            </a:extLst>
          </p:cNvPr>
          <p:cNvSpPr/>
          <p:nvPr/>
        </p:nvSpPr>
        <p:spPr>
          <a:xfrm>
            <a:off x="-13242373" y="3889687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53FD723F-0DF2-BEBE-3F2A-DC8A80091ED3}"/>
              </a:ext>
            </a:extLst>
          </p:cNvPr>
          <p:cNvSpPr/>
          <p:nvPr/>
        </p:nvSpPr>
        <p:spPr>
          <a:xfrm>
            <a:off x="-13242373" y="4368658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6FC17B3-2738-F380-A26C-6F59D491C46B}"/>
              </a:ext>
            </a:extLst>
          </p:cNvPr>
          <p:cNvSpPr/>
          <p:nvPr/>
        </p:nvSpPr>
        <p:spPr>
          <a:xfrm>
            <a:off x="-13089973" y="4023037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72216B06-5E28-CAAD-332A-494E4B2F53B2}"/>
              </a:ext>
            </a:extLst>
          </p:cNvPr>
          <p:cNvSpPr/>
          <p:nvPr/>
        </p:nvSpPr>
        <p:spPr>
          <a:xfrm>
            <a:off x="-11704340" y="4368658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E0120458-B218-E49D-C04E-A8699BA5BAC1}"/>
              </a:ext>
            </a:extLst>
          </p:cNvPr>
          <p:cNvSpPr/>
          <p:nvPr/>
        </p:nvSpPr>
        <p:spPr>
          <a:xfrm>
            <a:off x="-11551940" y="4023037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5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B46DD675-C808-D49F-48AF-B1E02FCB30A0}"/>
              </a:ext>
            </a:extLst>
          </p:cNvPr>
          <p:cNvSpPr/>
          <p:nvPr/>
        </p:nvSpPr>
        <p:spPr>
          <a:xfrm>
            <a:off x="-9914320" y="4368658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806EE8C7-625A-DD22-107F-64B37AE5CA24}"/>
              </a:ext>
            </a:extLst>
          </p:cNvPr>
          <p:cNvSpPr/>
          <p:nvPr/>
        </p:nvSpPr>
        <p:spPr>
          <a:xfrm>
            <a:off x="-9761920" y="4023037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CEBF4280-6F13-B3D8-6428-7044453DBC9B}"/>
              </a:ext>
            </a:extLst>
          </p:cNvPr>
          <p:cNvSpPr/>
          <p:nvPr/>
        </p:nvSpPr>
        <p:spPr>
          <a:xfrm>
            <a:off x="-8435224" y="4368658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D520575E-69F8-9ADD-6AD7-05307D2378C5}"/>
              </a:ext>
            </a:extLst>
          </p:cNvPr>
          <p:cNvSpPr/>
          <p:nvPr/>
        </p:nvSpPr>
        <p:spPr>
          <a:xfrm>
            <a:off x="-8282824" y="4023037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35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7168214F-61C6-E14F-BA7F-48482B996F6C}"/>
              </a:ext>
            </a:extLst>
          </p:cNvPr>
          <p:cNvSpPr/>
          <p:nvPr/>
        </p:nvSpPr>
        <p:spPr>
          <a:xfrm>
            <a:off x="-6981471" y="4368658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30C73FC7-D278-A650-30F9-733D7EC8623B}"/>
              </a:ext>
            </a:extLst>
          </p:cNvPr>
          <p:cNvSpPr/>
          <p:nvPr/>
        </p:nvSpPr>
        <p:spPr>
          <a:xfrm>
            <a:off x="-6829071" y="4023037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35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5276CBB7-4399-11D0-82BC-4D6AF21F2CC0}"/>
              </a:ext>
            </a:extLst>
          </p:cNvPr>
          <p:cNvSpPr/>
          <p:nvPr/>
        </p:nvSpPr>
        <p:spPr>
          <a:xfrm>
            <a:off x="-13242373" y="4853073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F890DDA9-5768-D3F9-0F33-229D793933F5}"/>
              </a:ext>
            </a:extLst>
          </p:cNvPr>
          <p:cNvSpPr/>
          <p:nvPr/>
        </p:nvSpPr>
        <p:spPr>
          <a:xfrm>
            <a:off x="-13089973" y="4507451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B4290FC5-225B-B98E-E67E-862B939F5D6D}"/>
              </a:ext>
            </a:extLst>
          </p:cNvPr>
          <p:cNvSpPr/>
          <p:nvPr/>
        </p:nvSpPr>
        <p:spPr>
          <a:xfrm>
            <a:off x="-11704340" y="4853073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C537F13E-A515-8694-4ADD-378B3AF00046}"/>
              </a:ext>
            </a:extLst>
          </p:cNvPr>
          <p:cNvSpPr/>
          <p:nvPr/>
        </p:nvSpPr>
        <p:spPr>
          <a:xfrm>
            <a:off x="-11551940" y="4507451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350" dirty="0"/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0C8F1071-681B-B00C-92E0-605455E582DC}"/>
              </a:ext>
            </a:extLst>
          </p:cNvPr>
          <p:cNvSpPr/>
          <p:nvPr/>
        </p:nvSpPr>
        <p:spPr>
          <a:xfrm>
            <a:off x="-9914320" y="4853073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22B1DD23-B4BF-EE78-1F7F-5E8D2C6D3002}"/>
              </a:ext>
            </a:extLst>
          </p:cNvPr>
          <p:cNvSpPr/>
          <p:nvPr/>
        </p:nvSpPr>
        <p:spPr>
          <a:xfrm>
            <a:off x="-9761920" y="4507451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/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0E5A5DA4-8851-A02A-1F4B-DFCD7B04CBC3}"/>
              </a:ext>
            </a:extLst>
          </p:cNvPr>
          <p:cNvSpPr/>
          <p:nvPr/>
        </p:nvSpPr>
        <p:spPr>
          <a:xfrm>
            <a:off x="-8435224" y="4853073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4A5FF2B6-1EBE-D735-7211-F6CC99322296}"/>
              </a:ext>
            </a:extLst>
          </p:cNvPr>
          <p:cNvSpPr/>
          <p:nvPr/>
        </p:nvSpPr>
        <p:spPr>
          <a:xfrm>
            <a:off x="-8282824" y="4507451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10D45430-60CD-B7A6-A6F0-3DF7C9D5FABF}"/>
              </a:ext>
            </a:extLst>
          </p:cNvPr>
          <p:cNvSpPr/>
          <p:nvPr/>
        </p:nvSpPr>
        <p:spPr>
          <a:xfrm>
            <a:off x="-6981471" y="4853073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D449BD88-6915-0D85-9FB4-3B2C9872108B}"/>
              </a:ext>
            </a:extLst>
          </p:cNvPr>
          <p:cNvSpPr/>
          <p:nvPr/>
        </p:nvSpPr>
        <p:spPr>
          <a:xfrm>
            <a:off x="-6829071" y="4507451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setup.tmp</a:t>
            </a:r>
            <a:endParaRPr lang="en-US" sz="135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1993CCD8-CB64-0975-1DB2-CE297487838B}"/>
              </a:ext>
            </a:extLst>
          </p:cNvPr>
          <p:cNvSpPr/>
          <p:nvPr/>
        </p:nvSpPr>
        <p:spPr>
          <a:xfrm>
            <a:off x="-13242373" y="4858516"/>
            <a:ext cx="7976507" cy="484414"/>
          </a:xfrm>
          <a:prstGeom prst="rect">
            <a:avLst/>
          </a:prstGeom>
          <a:solidFill>
            <a:srgbClr val="EAF2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E3D7B624-F042-1F3D-86F5-C23A66F648C7}"/>
              </a:ext>
            </a:extLst>
          </p:cNvPr>
          <p:cNvSpPr/>
          <p:nvPr/>
        </p:nvSpPr>
        <p:spPr>
          <a:xfrm>
            <a:off x="-13242373" y="5337487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5BB8A676-95C6-78AE-DDFC-29F856823998}"/>
              </a:ext>
            </a:extLst>
          </p:cNvPr>
          <p:cNvSpPr/>
          <p:nvPr/>
        </p:nvSpPr>
        <p:spPr>
          <a:xfrm>
            <a:off x="-13089973" y="4991866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09:14:07</a:t>
            </a:r>
            <a:endParaRPr lang="en-US" sz="1350" dirty="0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FE7668EC-6CEC-D703-019F-03E2F35E0D65}"/>
              </a:ext>
            </a:extLst>
          </p:cNvPr>
          <p:cNvSpPr/>
          <p:nvPr/>
        </p:nvSpPr>
        <p:spPr>
          <a:xfrm>
            <a:off x="-11704340" y="5337487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43CDD751-FBC1-3AEF-FB48-83ECE693609C}"/>
              </a:ext>
            </a:extLst>
          </p:cNvPr>
          <p:cNvSpPr/>
          <p:nvPr/>
        </p:nvSpPr>
        <p:spPr>
          <a:xfrm>
            <a:off x="-11551940" y="4991866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rundll32</a:t>
            </a:r>
            <a:endParaRPr lang="en-US" sz="1350" dirty="0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35C486FD-5352-0A1A-DB09-ABA922CD357C}"/>
              </a:ext>
            </a:extLst>
          </p:cNvPr>
          <p:cNvSpPr/>
          <p:nvPr/>
        </p:nvSpPr>
        <p:spPr>
          <a:xfrm>
            <a:off x="-9914320" y="5337487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266811F7-E6A7-46EF-C1AA-8D2A7B20BDDF}"/>
              </a:ext>
            </a:extLst>
          </p:cNvPr>
          <p:cNvSpPr/>
          <p:nvPr/>
        </p:nvSpPr>
        <p:spPr>
          <a:xfrm>
            <a:off x="-9761920" y="4991866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/>
          </a:p>
        </p:txBody>
      </p:sp>
      <p:sp>
        <p:nvSpPr>
          <p:cNvPr id="78" name="Shape 35">
            <a:extLst>
              <a:ext uri="{FF2B5EF4-FFF2-40B4-BE49-F238E27FC236}">
                <a16:creationId xmlns:a16="http://schemas.microsoft.com/office/drawing/2014/main" id="{4F3CA716-9B08-1B7E-A733-4A9D492458A2}"/>
              </a:ext>
            </a:extLst>
          </p:cNvPr>
          <p:cNvSpPr/>
          <p:nvPr/>
        </p:nvSpPr>
        <p:spPr>
          <a:xfrm>
            <a:off x="-8435224" y="5337487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0" name="Text 36">
            <a:extLst>
              <a:ext uri="{FF2B5EF4-FFF2-40B4-BE49-F238E27FC236}">
                <a16:creationId xmlns:a16="http://schemas.microsoft.com/office/drawing/2014/main" id="{C40F0CF9-D31A-E323-625B-F48D4EB539E3}"/>
              </a:ext>
            </a:extLst>
          </p:cNvPr>
          <p:cNvSpPr/>
          <p:nvPr/>
        </p:nvSpPr>
        <p:spPr>
          <a:xfrm>
            <a:off x="-8282824" y="4991866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82" name="Shape 37">
            <a:extLst>
              <a:ext uri="{FF2B5EF4-FFF2-40B4-BE49-F238E27FC236}">
                <a16:creationId xmlns:a16="http://schemas.microsoft.com/office/drawing/2014/main" id="{60133CFB-0AC4-12F6-E6CA-4A05E8BDCCA5}"/>
              </a:ext>
            </a:extLst>
          </p:cNvPr>
          <p:cNvSpPr/>
          <p:nvPr/>
        </p:nvSpPr>
        <p:spPr>
          <a:xfrm>
            <a:off x="-6981471" y="5337487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B960744E-A6A6-E9F3-6220-3361E7A2FB8A}"/>
              </a:ext>
            </a:extLst>
          </p:cNvPr>
          <p:cNvSpPr/>
          <p:nvPr/>
        </p:nvSpPr>
        <p:spPr>
          <a:xfrm>
            <a:off x="-6829071" y="4991866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setup.tmp</a:t>
            </a:r>
            <a:endParaRPr lang="en-US" sz="1350" dirty="0"/>
          </a:p>
        </p:txBody>
      </p:sp>
      <p:sp>
        <p:nvSpPr>
          <p:cNvPr id="86" name="Text 39">
            <a:extLst>
              <a:ext uri="{FF2B5EF4-FFF2-40B4-BE49-F238E27FC236}">
                <a16:creationId xmlns:a16="http://schemas.microsoft.com/office/drawing/2014/main" id="{EF8B2469-5299-CCF4-0B94-D570FBC9FD1D}"/>
              </a:ext>
            </a:extLst>
          </p:cNvPr>
          <p:cNvSpPr/>
          <p:nvPr/>
        </p:nvSpPr>
        <p:spPr>
          <a:xfrm>
            <a:off x="-13089973" y="5476280"/>
            <a:ext cx="1309432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09:15:31</a:t>
            </a:r>
            <a:endParaRPr lang="en-US" sz="1350" dirty="0"/>
          </a:p>
        </p:txBody>
      </p:sp>
      <p:sp>
        <p:nvSpPr>
          <p:cNvPr id="88" name="Text 40">
            <a:extLst>
              <a:ext uri="{FF2B5EF4-FFF2-40B4-BE49-F238E27FC236}">
                <a16:creationId xmlns:a16="http://schemas.microsoft.com/office/drawing/2014/main" id="{553D11E0-99A3-CB91-AB1B-E85BD4FEE65D}"/>
              </a:ext>
            </a:extLst>
          </p:cNvPr>
          <p:cNvSpPr/>
          <p:nvPr/>
        </p:nvSpPr>
        <p:spPr>
          <a:xfrm>
            <a:off x="-11551940" y="5476280"/>
            <a:ext cx="1561420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350" dirty="0"/>
          </a:p>
        </p:txBody>
      </p:sp>
      <p:sp>
        <p:nvSpPr>
          <p:cNvPr id="90" name="Text 41">
            <a:extLst>
              <a:ext uri="{FF2B5EF4-FFF2-40B4-BE49-F238E27FC236}">
                <a16:creationId xmlns:a16="http://schemas.microsoft.com/office/drawing/2014/main" id="{09A09860-D37C-DD69-CBA7-8FEAFE9A826D}"/>
              </a:ext>
            </a:extLst>
          </p:cNvPr>
          <p:cNvSpPr/>
          <p:nvPr/>
        </p:nvSpPr>
        <p:spPr>
          <a:xfrm>
            <a:off x="-9761920" y="5476280"/>
            <a:ext cx="12504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m.roux</a:t>
            </a:r>
            <a:endParaRPr lang="en-US" sz="1350" dirty="0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7C3DDDB1-36CE-9C84-AD9B-128B56F91921}"/>
              </a:ext>
            </a:extLst>
          </p:cNvPr>
          <p:cNvSpPr/>
          <p:nvPr/>
        </p:nvSpPr>
        <p:spPr>
          <a:xfrm>
            <a:off x="-8282824" y="5476280"/>
            <a:ext cx="1225153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WS-207</a:t>
            </a:r>
            <a:endParaRPr lang="en-US" sz="1350" dirty="0"/>
          </a:p>
        </p:txBody>
      </p:sp>
      <p:sp>
        <p:nvSpPr>
          <p:cNvPr id="94" name="Text 43">
            <a:extLst>
              <a:ext uri="{FF2B5EF4-FFF2-40B4-BE49-F238E27FC236}">
                <a16:creationId xmlns:a16="http://schemas.microsoft.com/office/drawing/2014/main" id="{DD6D67E5-6DCB-05AE-5254-C32B566C6F7E}"/>
              </a:ext>
            </a:extLst>
          </p:cNvPr>
          <p:cNvSpPr/>
          <p:nvPr/>
        </p:nvSpPr>
        <p:spPr>
          <a:xfrm>
            <a:off x="-6829071" y="5476280"/>
            <a:ext cx="148700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pic>
        <p:nvPicPr>
          <p:cNvPr id="96" name="Image 1" descr="preencoded.png">
            <a:extLst>
              <a:ext uri="{FF2B5EF4-FFF2-40B4-BE49-F238E27FC236}">
                <a16:creationId xmlns:a16="http://schemas.microsoft.com/office/drawing/2014/main" id="{EF6AC79E-7F1B-DE5E-99C4-C787693D7B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82143" y="3467866"/>
            <a:ext cx="247650" cy="247650"/>
          </a:xfrm>
          <a:prstGeom prst="rect">
            <a:avLst/>
          </a:prstGeom>
        </p:spPr>
      </p:pic>
      <p:sp>
        <p:nvSpPr>
          <p:cNvPr id="98" name="Text 44">
            <a:extLst>
              <a:ext uri="{FF2B5EF4-FFF2-40B4-BE49-F238E27FC236}">
                <a16:creationId xmlns:a16="http://schemas.microsoft.com/office/drawing/2014/main" id="{2B6BE4DE-CA63-B158-13ED-6689832F27DD}"/>
              </a:ext>
            </a:extLst>
          </p:cNvPr>
          <p:cNvSpPr/>
          <p:nvPr/>
        </p:nvSpPr>
        <p:spPr>
          <a:xfrm>
            <a:off x="25444092" y="3477391"/>
            <a:ext cx="19354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5E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telemetry</a:t>
            </a:r>
            <a:endParaRPr lang="en-US" sz="1500" dirty="0"/>
          </a:p>
        </p:txBody>
      </p:sp>
      <p:sp>
        <p:nvSpPr>
          <p:cNvPr id="100" name="Shape 45">
            <a:extLst>
              <a:ext uri="{FF2B5EF4-FFF2-40B4-BE49-F238E27FC236}">
                <a16:creationId xmlns:a16="http://schemas.microsoft.com/office/drawing/2014/main" id="{4E08CA94-6BF4-4381-F8C7-D9117662723A}"/>
              </a:ext>
            </a:extLst>
          </p:cNvPr>
          <p:cNvSpPr/>
          <p:nvPr/>
        </p:nvSpPr>
        <p:spPr>
          <a:xfrm>
            <a:off x="25082143" y="3886966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2" name="Shape 46">
            <a:extLst>
              <a:ext uri="{FF2B5EF4-FFF2-40B4-BE49-F238E27FC236}">
                <a16:creationId xmlns:a16="http://schemas.microsoft.com/office/drawing/2014/main" id="{B59B288F-8F02-FAF2-ABA6-509CCB26415A}"/>
              </a:ext>
            </a:extLst>
          </p:cNvPr>
          <p:cNvSpPr/>
          <p:nvPr/>
        </p:nvSpPr>
        <p:spPr>
          <a:xfrm>
            <a:off x="25084864" y="3889687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4" name="Shape 47">
            <a:extLst>
              <a:ext uri="{FF2B5EF4-FFF2-40B4-BE49-F238E27FC236}">
                <a16:creationId xmlns:a16="http://schemas.microsoft.com/office/drawing/2014/main" id="{AB7052F7-C681-C334-C7F5-698DA62EF549}"/>
              </a:ext>
            </a:extLst>
          </p:cNvPr>
          <p:cNvSpPr/>
          <p:nvPr/>
        </p:nvSpPr>
        <p:spPr>
          <a:xfrm>
            <a:off x="25084864" y="4368658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6" name="Text 48">
            <a:extLst>
              <a:ext uri="{FF2B5EF4-FFF2-40B4-BE49-F238E27FC236}">
                <a16:creationId xmlns:a16="http://schemas.microsoft.com/office/drawing/2014/main" id="{11E30FF2-95C7-6A5A-0C28-94C2EEA60BD8}"/>
              </a:ext>
            </a:extLst>
          </p:cNvPr>
          <p:cNvSpPr/>
          <p:nvPr/>
        </p:nvSpPr>
        <p:spPr>
          <a:xfrm>
            <a:off x="25237264" y="4023037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108" name="Shape 49">
            <a:extLst>
              <a:ext uri="{FF2B5EF4-FFF2-40B4-BE49-F238E27FC236}">
                <a16:creationId xmlns:a16="http://schemas.microsoft.com/office/drawing/2014/main" id="{13AC08FC-26BB-CEF1-A26B-085F8D6B7280}"/>
              </a:ext>
            </a:extLst>
          </p:cNvPr>
          <p:cNvSpPr/>
          <p:nvPr/>
        </p:nvSpPr>
        <p:spPr>
          <a:xfrm>
            <a:off x="26721293" y="4368658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0" name="Text 50">
            <a:extLst>
              <a:ext uri="{FF2B5EF4-FFF2-40B4-BE49-F238E27FC236}">
                <a16:creationId xmlns:a16="http://schemas.microsoft.com/office/drawing/2014/main" id="{8020D8BB-1B4E-1172-E7F5-BA3C7CE0242D}"/>
              </a:ext>
            </a:extLst>
          </p:cNvPr>
          <p:cNvSpPr/>
          <p:nvPr/>
        </p:nvSpPr>
        <p:spPr>
          <a:xfrm>
            <a:off x="26873693" y="4023037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</a:t>
            </a:r>
            <a:endParaRPr lang="en-US" sz="1350" dirty="0"/>
          </a:p>
        </p:txBody>
      </p:sp>
      <p:sp>
        <p:nvSpPr>
          <p:cNvPr id="112" name="Shape 51">
            <a:extLst>
              <a:ext uri="{FF2B5EF4-FFF2-40B4-BE49-F238E27FC236}">
                <a16:creationId xmlns:a16="http://schemas.microsoft.com/office/drawing/2014/main" id="{E83A93CA-6C2D-96D2-5F28-598A1C6CA7F4}"/>
              </a:ext>
            </a:extLst>
          </p:cNvPr>
          <p:cNvSpPr/>
          <p:nvPr/>
        </p:nvSpPr>
        <p:spPr>
          <a:xfrm>
            <a:off x="28422951" y="4368658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8" name="Text 52">
            <a:extLst>
              <a:ext uri="{FF2B5EF4-FFF2-40B4-BE49-F238E27FC236}">
                <a16:creationId xmlns:a16="http://schemas.microsoft.com/office/drawing/2014/main" id="{A82FA566-1BBA-D552-25F9-C66BCEFB766C}"/>
              </a:ext>
            </a:extLst>
          </p:cNvPr>
          <p:cNvSpPr/>
          <p:nvPr/>
        </p:nvSpPr>
        <p:spPr>
          <a:xfrm>
            <a:off x="28575351" y="4023037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IP</a:t>
            </a:r>
            <a:endParaRPr lang="en-US" sz="1350" dirty="0"/>
          </a:p>
        </p:txBody>
      </p:sp>
      <p:sp>
        <p:nvSpPr>
          <p:cNvPr id="120" name="Shape 53">
            <a:extLst>
              <a:ext uri="{FF2B5EF4-FFF2-40B4-BE49-F238E27FC236}">
                <a16:creationId xmlns:a16="http://schemas.microsoft.com/office/drawing/2014/main" id="{78DD6498-3C4C-61CD-7715-D96A743C48E4}"/>
              </a:ext>
            </a:extLst>
          </p:cNvPr>
          <p:cNvSpPr/>
          <p:nvPr/>
        </p:nvSpPr>
        <p:spPr>
          <a:xfrm>
            <a:off x="30678081" y="4368658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2" name="Text 54">
            <a:extLst>
              <a:ext uri="{FF2B5EF4-FFF2-40B4-BE49-F238E27FC236}">
                <a16:creationId xmlns:a16="http://schemas.microsoft.com/office/drawing/2014/main" id="{39AD7930-BF69-801D-8B36-797FE24972B2}"/>
              </a:ext>
            </a:extLst>
          </p:cNvPr>
          <p:cNvSpPr/>
          <p:nvPr/>
        </p:nvSpPr>
        <p:spPr>
          <a:xfrm>
            <a:off x="30830481" y="4023037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350" dirty="0"/>
          </a:p>
        </p:txBody>
      </p:sp>
      <p:sp>
        <p:nvSpPr>
          <p:cNvPr id="124" name="Shape 55">
            <a:extLst>
              <a:ext uri="{FF2B5EF4-FFF2-40B4-BE49-F238E27FC236}">
                <a16:creationId xmlns:a16="http://schemas.microsoft.com/office/drawing/2014/main" id="{F5B96D81-6E2B-CB04-03DC-FEB69E5C1672}"/>
              </a:ext>
            </a:extLst>
          </p:cNvPr>
          <p:cNvSpPr/>
          <p:nvPr/>
        </p:nvSpPr>
        <p:spPr>
          <a:xfrm>
            <a:off x="31699976" y="4368658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7" name="Text 56">
            <a:extLst>
              <a:ext uri="{FF2B5EF4-FFF2-40B4-BE49-F238E27FC236}">
                <a16:creationId xmlns:a16="http://schemas.microsoft.com/office/drawing/2014/main" id="{9C5D3FF8-01BC-BEF5-CE18-51840915A061}"/>
              </a:ext>
            </a:extLst>
          </p:cNvPr>
          <p:cNvSpPr/>
          <p:nvPr/>
        </p:nvSpPr>
        <p:spPr>
          <a:xfrm>
            <a:off x="31852376" y="4023037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</a:t>
            </a:r>
            <a:endParaRPr lang="en-US" sz="1350" dirty="0"/>
          </a:p>
        </p:txBody>
      </p:sp>
      <p:sp>
        <p:nvSpPr>
          <p:cNvPr id="129" name="Shape 57">
            <a:extLst>
              <a:ext uri="{FF2B5EF4-FFF2-40B4-BE49-F238E27FC236}">
                <a16:creationId xmlns:a16="http://schemas.microsoft.com/office/drawing/2014/main" id="{80A026B1-80C9-E304-1A07-5FC971A74DC4}"/>
              </a:ext>
            </a:extLst>
          </p:cNvPr>
          <p:cNvSpPr/>
          <p:nvPr/>
        </p:nvSpPr>
        <p:spPr>
          <a:xfrm>
            <a:off x="25084864" y="4853073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1" name="Text 58">
            <a:extLst>
              <a:ext uri="{FF2B5EF4-FFF2-40B4-BE49-F238E27FC236}">
                <a16:creationId xmlns:a16="http://schemas.microsoft.com/office/drawing/2014/main" id="{AC513BF4-26DA-53AF-7915-2B2AD116467E}"/>
              </a:ext>
            </a:extLst>
          </p:cNvPr>
          <p:cNvSpPr/>
          <p:nvPr/>
        </p:nvSpPr>
        <p:spPr>
          <a:xfrm>
            <a:off x="25237264" y="4507451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133" name="Shape 59">
            <a:extLst>
              <a:ext uri="{FF2B5EF4-FFF2-40B4-BE49-F238E27FC236}">
                <a16:creationId xmlns:a16="http://schemas.microsoft.com/office/drawing/2014/main" id="{CC39FEA2-4B55-7378-3073-CB8B69AEF42F}"/>
              </a:ext>
            </a:extLst>
          </p:cNvPr>
          <p:cNvSpPr/>
          <p:nvPr/>
        </p:nvSpPr>
        <p:spPr>
          <a:xfrm>
            <a:off x="26721293" y="4853073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5" name="Text 60">
            <a:extLst>
              <a:ext uri="{FF2B5EF4-FFF2-40B4-BE49-F238E27FC236}">
                <a16:creationId xmlns:a16="http://schemas.microsoft.com/office/drawing/2014/main" id="{B213788F-4252-AEE4-62BF-17920E89B746}"/>
              </a:ext>
            </a:extLst>
          </p:cNvPr>
          <p:cNvSpPr/>
          <p:nvPr/>
        </p:nvSpPr>
        <p:spPr>
          <a:xfrm>
            <a:off x="26873693" y="4507451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137" name="Shape 61">
            <a:extLst>
              <a:ext uri="{FF2B5EF4-FFF2-40B4-BE49-F238E27FC236}">
                <a16:creationId xmlns:a16="http://schemas.microsoft.com/office/drawing/2014/main" id="{A30BC50F-B302-D26F-99F3-2A893B13D828}"/>
              </a:ext>
            </a:extLst>
          </p:cNvPr>
          <p:cNvSpPr/>
          <p:nvPr/>
        </p:nvSpPr>
        <p:spPr>
          <a:xfrm>
            <a:off x="28422951" y="4853073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9" name="Text 62">
            <a:extLst>
              <a:ext uri="{FF2B5EF4-FFF2-40B4-BE49-F238E27FC236}">
                <a16:creationId xmlns:a16="http://schemas.microsoft.com/office/drawing/2014/main" id="{E9664E5A-5017-2D96-66AA-47188D730DCF}"/>
              </a:ext>
            </a:extLst>
          </p:cNvPr>
          <p:cNvSpPr/>
          <p:nvPr/>
        </p:nvSpPr>
        <p:spPr>
          <a:xfrm>
            <a:off x="28575351" y="4507451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10.0.0.5</a:t>
            </a:r>
            <a:endParaRPr lang="en-US" sz="1350" dirty="0"/>
          </a:p>
        </p:txBody>
      </p:sp>
      <p:sp>
        <p:nvSpPr>
          <p:cNvPr id="141" name="Shape 63">
            <a:extLst>
              <a:ext uri="{FF2B5EF4-FFF2-40B4-BE49-F238E27FC236}">
                <a16:creationId xmlns:a16="http://schemas.microsoft.com/office/drawing/2014/main" id="{0A89EAEC-B143-BDE4-118C-2C5F8D077E3A}"/>
              </a:ext>
            </a:extLst>
          </p:cNvPr>
          <p:cNvSpPr/>
          <p:nvPr/>
        </p:nvSpPr>
        <p:spPr>
          <a:xfrm>
            <a:off x="30678081" y="4853073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3" name="Text 64">
            <a:extLst>
              <a:ext uri="{FF2B5EF4-FFF2-40B4-BE49-F238E27FC236}">
                <a16:creationId xmlns:a16="http://schemas.microsoft.com/office/drawing/2014/main" id="{5C326202-D48D-2F6C-3329-5AD592E7B47D}"/>
              </a:ext>
            </a:extLst>
          </p:cNvPr>
          <p:cNvSpPr/>
          <p:nvPr/>
        </p:nvSpPr>
        <p:spPr>
          <a:xfrm>
            <a:off x="30830481" y="4507451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</a:t>
            </a:r>
            <a:endParaRPr lang="en-US" sz="1350" dirty="0"/>
          </a:p>
        </p:txBody>
      </p:sp>
      <p:sp>
        <p:nvSpPr>
          <p:cNvPr id="145" name="Shape 65">
            <a:extLst>
              <a:ext uri="{FF2B5EF4-FFF2-40B4-BE49-F238E27FC236}">
                <a16:creationId xmlns:a16="http://schemas.microsoft.com/office/drawing/2014/main" id="{334F0FAA-47DC-B186-57BE-679C9E6C0472}"/>
              </a:ext>
            </a:extLst>
          </p:cNvPr>
          <p:cNvSpPr/>
          <p:nvPr/>
        </p:nvSpPr>
        <p:spPr>
          <a:xfrm>
            <a:off x="31699976" y="4853073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7" name="Text 66">
            <a:extLst>
              <a:ext uri="{FF2B5EF4-FFF2-40B4-BE49-F238E27FC236}">
                <a16:creationId xmlns:a16="http://schemas.microsoft.com/office/drawing/2014/main" id="{E7AF1DF4-7AA3-528C-E2ED-94C03B4B2A11}"/>
              </a:ext>
            </a:extLst>
          </p:cNvPr>
          <p:cNvSpPr/>
          <p:nvPr/>
        </p:nvSpPr>
        <p:spPr>
          <a:xfrm>
            <a:off x="31852376" y="4507451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18 204</a:t>
            </a:r>
            <a:endParaRPr lang="en-US" sz="1350" dirty="0"/>
          </a:p>
        </p:txBody>
      </p:sp>
      <p:sp>
        <p:nvSpPr>
          <p:cNvPr id="149" name="Shape 67">
            <a:extLst>
              <a:ext uri="{FF2B5EF4-FFF2-40B4-BE49-F238E27FC236}">
                <a16:creationId xmlns:a16="http://schemas.microsoft.com/office/drawing/2014/main" id="{02C142AE-A280-9AA8-758C-9259354E9CD7}"/>
              </a:ext>
            </a:extLst>
          </p:cNvPr>
          <p:cNvSpPr/>
          <p:nvPr/>
        </p:nvSpPr>
        <p:spPr>
          <a:xfrm>
            <a:off x="25084864" y="4858516"/>
            <a:ext cx="7976507" cy="484414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1" name="Shape 68">
            <a:extLst>
              <a:ext uri="{FF2B5EF4-FFF2-40B4-BE49-F238E27FC236}">
                <a16:creationId xmlns:a16="http://schemas.microsoft.com/office/drawing/2014/main" id="{0E80DECD-5FCC-11D6-2FA8-B671E2597897}"/>
              </a:ext>
            </a:extLst>
          </p:cNvPr>
          <p:cNvSpPr/>
          <p:nvPr/>
        </p:nvSpPr>
        <p:spPr>
          <a:xfrm>
            <a:off x="25084864" y="5337487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3" name="Text 69">
            <a:extLst>
              <a:ext uri="{FF2B5EF4-FFF2-40B4-BE49-F238E27FC236}">
                <a16:creationId xmlns:a16="http://schemas.microsoft.com/office/drawing/2014/main" id="{635AED98-CF7F-EA0A-B151-1B0569EFD8E9}"/>
              </a:ext>
            </a:extLst>
          </p:cNvPr>
          <p:cNvSpPr/>
          <p:nvPr/>
        </p:nvSpPr>
        <p:spPr>
          <a:xfrm>
            <a:off x="25237264" y="4991866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09:14:05</a:t>
            </a:r>
            <a:endParaRPr lang="en-US" sz="1350" dirty="0"/>
          </a:p>
        </p:txBody>
      </p:sp>
      <p:sp>
        <p:nvSpPr>
          <p:cNvPr id="155" name="Shape 70">
            <a:extLst>
              <a:ext uri="{FF2B5EF4-FFF2-40B4-BE49-F238E27FC236}">
                <a16:creationId xmlns:a16="http://schemas.microsoft.com/office/drawing/2014/main" id="{D12D5AA2-B92E-D409-6FBC-EB810513EEDB}"/>
              </a:ext>
            </a:extLst>
          </p:cNvPr>
          <p:cNvSpPr/>
          <p:nvPr/>
        </p:nvSpPr>
        <p:spPr>
          <a:xfrm>
            <a:off x="26721293" y="5337487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7" name="Text 71">
            <a:extLst>
              <a:ext uri="{FF2B5EF4-FFF2-40B4-BE49-F238E27FC236}">
                <a16:creationId xmlns:a16="http://schemas.microsoft.com/office/drawing/2014/main" id="{D29FC44E-0A03-4E59-B120-A79A0160C311}"/>
              </a:ext>
            </a:extLst>
          </p:cNvPr>
          <p:cNvSpPr/>
          <p:nvPr/>
        </p:nvSpPr>
        <p:spPr>
          <a:xfrm>
            <a:off x="26873693" y="4991866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159" name="Shape 72">
            <a:extLst>
              <a:ext uri="{FF2B5EF4-FFF2-40B4-BE49-F238E27FC236}">
                <a16:creationId xmlns:a16="http://schemas.microsoft.com/office/drawing/2014/main" id="{7E84C6B3-5CEC-D8BE-9BAD-0D6169DD8AC3}"/>
              </a:ext>
            </a:extLst>
          </p:cNvPr>
          <p:cNvSpPr/>
          <p:nvPr/>
        </p:nvSpPr>
        <p:spPr>
          <a:xfrm>
            <a:off x="28422951" y="5337487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1" name="Text 73">
            <a:extLst>
              <a:ext uri="{FF2B5EF4-FFF2-40B4-BE49-F238E27FC236}">
                <a16:creationId xmlns:a16="http://schemas.microsoft.com/office/drawing/2014/main" id="{A0D6D2CC-F8C1-7BAB-BAD1-5754A9744EBE}"/>
              </a:ext>
            </a:extLst>
          </p:cNvPr>
          <p:cNvSpPr/>
          <p:nvPr/>
        </p:nvSpPr>
        <p:spPr>
          <a:xfrm>
            <a:off x="28575351" y="4991866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203.0.113.9</a:t>
            </a:r>
            <a:endParaRPr lang="en-US" sz="1350" dirty="0"/>
          </a:p>
        </p:txBody>
      </p:sp>
      <p:sp>
        <p:nvSpPr>
          <p:cNvPr id="163" name="Shape 74">
            <a:extLst>
              <a:ext uri="{FF2B5EF4-FFF2-40B4-BE49-F238E27FC236}">
                <a16:creationId xmlns:a16="http://schemas.microsoft.com/office/drawing/2014/main" id="{12F679C0-5666-580A-0827-E77E2D64D8CD}"/>
              </a:ext>
            </a:extLst>
          </p:cNvPr>
          <p:cNvSpPr/>
          <p:nvPr/>
        </p:nvSpPr>
        <p:spPr>
          <a:xfrm>
            <a:off x="30678081" y="5337487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5" name="Text 75">
            <a:extLst>
              <a:ext uri="{FF2B5EF4-FFF2-40B4-BE49-F238E27FC236}">
                <a16:creationId xmlns:a16="http://schemas.microsoft.com/office/drawing/2014/main" id="{D9D2B7BA-4BB1-200A-CBC3-84AC50602E9D}"/>
              </a:ext>
            </a:extLst>
          </p:cNvPr>
          <p:cNvSpPr/>
          <p:nvPr/>
        </p:nvSpPr>
        <p:spPr>
          <a:xfrm>
            <a:off x="30830481" y="4991866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350" dirty="0"/>
          </a:p>
        </p:txBody>
      </p:sp>
      <p:sp>
        <p:nvSpPr>
          <p:cNvPr id="167" name="Shape 76">
            <a:extLst>
              <a:ext uri="{FF2B5EF4-FFF2-40B4-BE49-F238E27FC236}">
                <a16:creationId xmlns:a16="http://schemas.microsoft.com/office/drawing/2014/main" id="{C3682FC7-0B01-9B3F-5DFD-2492DA3A887C}"/>
              </a:ext>
            </a:extLst>
          </p:cNvPr>
          <p:cNvSpPr/>
          <p:nvPr/>
        </p:nvSpPr>
        <p:spPr>
          <a:xfrm>
            <a:off x="31699976" y="5337487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9" name="Text 77">
            <a:extLst>
              <a:ext uri="{FF2B5EF4-FFF2-40B4-BE49-F238E27FC236}">
                <a16:creationId xmlns:a16="http://schemas.microsoft.com/office/drawing/2014/main" id="{43EFB737-7CF0-EC5C-2802-B9A578C78005}"/>
              </a:ext>
            </a:extLst>
          </p:cNvPr>
          <p:cNvSpPr/>
          <p:nvPr/>
        </p:nvSpPr>
        <p:spPr>
          <a:xfrm>
            <a:off x="31852376" y="4991866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350" dirty="0"/>
          </a:p>
        </p:txBody>
      </p:sp>
      <p:sp>
        <p:nvSpPr>
          <p:cNvPr id="171" name="Text 78">
            <a:extLst>
              <a:ext uri="{FF2B5EF4-FFF2-40B4-BE49-F238E27FC236}">
                <a16:creationId xmlns:a16="http://schemas.microsoft.com/office/drawing/2014/main" id="{89E2E7FD-DFCB-272C-2C46-7C0F546B5326}"/>
              </a:ext>
            </a:extLst>
          </p:cNvPr>
          <p:cNvSpPr/>
          <p:nvPr/>
        </p:nvSpPr>
        <p:spPr>
          <a:xfrm>
            <a:off x="25237264" y="5476280"/>
            <a:ext cx="14078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09:15:44</a:t>
            </a:r>
            <a:endParaRPr lang="en-US" sz="1350" dirty="0"/>
          </a:p>
        </p:txBody>
      </p:sp>
      <p:sp>
        <p:nvSpPr>
          <p:cNvPr id="173" name="Text 79">
            <a:extLst>
              <a:ext uri="{FF2B5EF4-FFF2-40B4-BE49-F238E27FC236}">
                <a16:creationId xmlns:a16="http://schemas.microsoft.com/office/drawing/2014/main" id="{5F22A864-86BD-2553-7FCA-AA893EBD74DB}"/>
              </a:ext>
            </a:extLst>
          </p:cNvPr>
          <p:cNvSpPr/>
          <p:nvPr/>
        </p:nvSpPr>
        <p:spPr>
          <a:xfrm>
            <a:off x="26873693" y="5476280"/>
            <a:ext cx="147305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10.0.7.31</a:t>
            </a:r>
            <a:endParaRPr lang="en-US" sz="1350" dirty="0"/>
          </a:p>
        </p:txBody>
      </p:sp>
      <p:sp>
        <p:nvSpPr>
          <p:cNvPr id="175" name="Text 80">
            <a:extLst>
              <a:ext uri="{FF2B5EF4-FFF2-40B4-BE49-F238E27FC236}">
                <a16:creationId xmlns:a16="http://schemas.microsoft.com/office/drawing/2014/main" id="{AE680093-3315-5337-3ECF-EFEE4C97A456}"/>
              </a:ext>
            </a:extLst>
          </p:cNvPr>
          <p:cNvSpPr/>
          <p:nvPr/>
        </p:nvSpPr>
        <p:spPr>
          <a:xfrm>
            <a:off x="28575351" y="5476280"/>
            <a:ext cx="20265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10.0.0.5</a:t>
            </a:r>
            <a:endParaRPr lang="en-US" sz="1350" dirty="0"/>
          </a:p>
        </p:txBody>
      </p:sp>
      <p:sp>
        <p:nvSpPr>
          <p:cNvPr id="177" name="Text 81">
            <a:extLst>
              <a:ext uri="{FF2B5EF4-FFF2-40B4-BE49-F238E27FC236}">
                <a16:creationId xmlns:a16="http://schemas.microsoft.com/office/drawing/2014/main" id="{A5C1C273-71C3-9EFC-96B5-D70495E9746F}"/>
              </a:ext>
            </a:extLst>
          </p:cNvPr>
          <p:cNvSpPr/>
          <p:nvPr/>
        </p:nvSpPr>
        <p:spPr>
          <a:xfrm>
            <a:off x="30830481" y="5476280"/>
            <a:ext cx="7932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</a:t>
            </a:r>
            <a:endParaRPr lang="en-US" sz="1350" dirty="0"/>
          </a:p>
        </p:txBody>
      </p:sp>
      <p:sp>
        <p:nvSpPr>
          <p:cNvPr id="179" name="Text 82">
            <a:extLst>
              <a:ext uri="{FF2B5EF4-FFF2-40B4-BE49-F238E27FC236}">
                <a16:creationId xmlns:a16="http://schemas.microsoft.com/office/drawing/2014/main" id="{37E9D285-9964-3398-E1B1-2F9DF249C643}"/>
              </a:ext>
            </a:extLst>
          </p:cNvPr>
          <p:cNvSpPr/>
          <p:nvPr/>
        </p:nvSpPr>
        <p:spPr>
          <a:xfrm>
            <a:off x="31852376" y="5476280"/>
            <a:ext cx="1132795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2 990</a:t>
            </a:r>
            <a:endParaRPr lang="en-US" sz="1350" dirty="0"/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1111D640-93E5-CADA-4AE1-6CA344332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9425" y="9501953"/>
            <a:ext cx="1856185" cy="7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57250" y="533400"/>
            <a:ext cx="2926403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BACKGROUND</a:t>
            </a:r>
          </a:p>
        </p:txBody>
      </p:sp>
      <p:sp>
        <p:nvSpPr>
          <p:cNvPr id="5" name="Text 3"/>
          <p:cNvSpPr/>
          <p:nvPr/>
        </p:nvSpPr>
        <p:spPr>
          <a:xfrm>
            <a:off x="857250" y="1318390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1655"/>
              </a:lnSpc>
              <a:buNone/>
            </a:pPr>
            <a:r>
              <a:rPr lang="en-US" sz="885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Cybersecurity Begins With </a:t>
            </a:r>
            <a:r>
              <a:rPr lang="en-US" sz="8850" b="1" kern="0" spc="-88" dirty="0">
                <a:solidFill>
                  <a:schemeClr val="accent5">
                    <a:lumMod val="75000"/>
                  </a:schemeClr>
                </a:solidFill>
                <a:latin typeface="Avenir Next LT Pro" panose="020B0504020202020204" pitchFamily="34" charset="0"/>
              </a:rPr>
              <a:t>Records Of Activity</a:t>
            </a:r>
          </a:p>
        </p:txBody>
      </p:sp>
      <p:sp>
        <p:nvSpPr>
          <p:cNvPr id="6" name="Text 4"/>
          <p:cNvSpPr/>
          <p:nvPr/>
        </p:nvSpPr>
        <p:spPr>
          <a:xfrm>
            <a:off x="857250" y="2524748"/>
            <a:ext cx="124777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>
              <a:lnSpc>
                <a:spcPct val="136189"/>
              </a:lnSpc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Avenir Next LT Pro Demi" panose="020B0704020202020204" pitchFamily="34" charset="0"/>
                <a:cs typeface="Arial" pitchFamily="34" charset="-120"/>
              </a:rPr>
              <a:t>Telemetry Is A Stream Of Records Describing What Machines, Users, Processes, and Network Connections Are Doing.</a:t>
            </a:r>
          </a:p>
        </p:txBody>
      </p:sp>
      <p:sp>
        <p:nvSpPr>
          <p:cNvPr id="9" name="Shape 6"/>
          <p:cNvSpPr/>
          <p:nvPr/>
        </p:nvSpPr>
        <p:spPr>
          <a:xfrm>
            <a:off x="857250" y="4291837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859971" y="4294558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8"/>
          <p:cNvSpPr/>
          <p:nvPr/>
        </p:nvSpPr>
        <p:spPr>
          <a:xfrm>
            <a:off x="859971" y="4773529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1012371" y="4427908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398004" y="4773529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2550404" y="4427908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188024" y="4773529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4340424" y="4427908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7120" y="4773529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819520" y="4427908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120873" y="4773529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7"/>
          <p:cNvSpPr/>
          <p:nvPr/>
        </p:nvSpPr>
        <p:spPr>
          <a:xfrm>
            <a:off x="7273273" y="4427908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59971" y="5257944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1012371" y="4912322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2398004" y="5257944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1"/>
          <p:cNvSpPr/>
          <p:nvPr/>
        </p:nvSpPr>
        <p:spPr>
          <a:xfrm>
            <a:off x="2550404" y="4912322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188024" y="5257944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4340424" y="4912322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667120" y="5257944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5"/>
          <p:cNvSpPr/>
          <p:nvPr/>
        </p:nvSpPr>
        <p:spPr>
          <a:xfrm>
            <a:off x="5819520" y="4912322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120873" y="5257944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7"/>
          <p:cNvSpPr/>
          <p:nvPr/>
        </p:nvSpPr>
        <p:spPr>
          <a:xfrm>
            <a:off x="7273273" y="4912322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setup.tmp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59971" y="5263387"/>
            <a:ext cx="7976507" cy="484414"/>
          </a:xfrm>
          <a:prstGeom prst="rect">
            <a:avLst/>
          </a:prstGeom>
          <a:solidFill>
            <a:srgbClr val="EAF2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29"/>
          <p:cNvSpPr/>
          <p:nvPr/>
        </p:nvSpPr>
        <p:spPr>
          <a:xfrm>
            <a:off x="859971" y="5742358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0"/>
          <p:cNvSpPr/>
          <p:nvPr/>
        </p:nvSpPr>
        <p:spPr>
          <a:xfrm>
            <a:off x="1012371" y="5396737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09:14:07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2398004" y="5742358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2"/>
          <p:cNvSpPr/>
          <p:nvPr/>
        </p:nvSpPr>
        <p:spPr>
          <a:xfrm>
            <a:off x="2550404" y="5396737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rundll32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188024" y="5742358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4"/>
          <p:cNvSpPr/>
          <p:nvPr/>
        </p:nvSpPr>
        <p:spPr>
          <a:xfrm>
            <a:off x="4340424" y="5396737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5667120" y="5742358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6"/>
          <p:cNvSpPr/>
          <p:nvPr/>
        </p:nvSpPr>
        <p:spPr>
          <a:xfrm>
            <a:off x="5819520" y="5396737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7120873" y="5742358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8"/>
          <p:cNvSpPr/>
          <p:nvPr/>
        </p:nvSpPr>
        <p:spPr>
          <a:xfrm>
            <a:off x="7273273" y="5396737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setup.tmp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1012371" y="5881151"/>
            <a:ext cx="1309432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09:15:31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2550404" y="5881151"/>
            <a:ext cx="1561420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4340424" y="5881151"/>
            <a:ext cx="12504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m.roux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5819520" y="5881151"/>
            <a:ext cx="1225153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WS-207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7273273" y="5881151"/>
            <a:ext cx="148700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9" name="Shape 45"/>
          <p:cNvSpPr/>
          <p:nvPr/>
        </p:nvSpPr>
        <p:spPr>
          <a:xfrm>
            <a:off x="9448801" y="4291837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Shape 46"/>
          <p:cNvSpPr/>
          <p:nvPr/>
        </p:nvSpPr>
        <p:spPr>
          <a:xfrm>
            <a:off x="9451522" y="4294558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Shape 47"/>
          <p:cNvSpPr/>
          <p:nvPr/>
        </p:nvSpPr>
        <p:spPr>
          <a:xfrm>
            <a:off x="9451522" y="4773529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48"/>
          <p:cNvSpPr/>
          <p:nvPr/>
        </p:nvSpPr>
        <p:spPr>
          <a:xfrm>
            <a:off x="9603922" y="4427908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53" name="Shape 49"/>
          <p:cNvSpPr/>
          <p:nvPr/>
        </p:nvSpPr>
        <p:spPr>
          <a:xfrm>
            <a:off x="11087951" y="4773529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0"/>
          <p:cNvSpPr/>
          <p:nvPr/>
        </p:nvSpPr>
        <p:spPr>
          <a:xfrm>
            <a:off x="11240351" y="4427908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</a:t>
            </a:r>
            <a:endParaRPr lang="en-US" sz="1350" dirty="0"/>
          </a:p>
        </p:txBody>
      </p:sp>
      <p:sp>
        <p:nvSpPr>
          <p:cNvPr id="55" name="Shape 51"/>
          <p:cNvSpPr/>
          <p:nvPr/>
        </p:nvSpPr>
        <p:spPr>
          <a:xfrm>
            <a:off x="12789609" y="4773529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Text 52"/>
          <p:cNvSpPr/>
          <p:nvPr/>
        </p:nvSpPr>
        <p:spPr>
          <a:xfrm>
            <a:off x="12942009" y="4427908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IP</a:t>
            </a:r>
            <a:endParaRPr lang="en-US" sz="1350" dirty="0"/>
          </a:p>
        </p:txBody>
      </p:sp>
      <p:sp>
        <p:nvSpPr>
          <p:cNvPr id="57" name="Shape 53"/>
          <p:cNvSpPr/>
          <p:nvPr/>
        </p:nvSpPr>
        <p:spPr>
          <a:xfrm>
            <a:off x="15044739" y="4773529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54"/>
          <p:cNvSpPr/>
          <p:nvPr/>
        </p:nvSpPr>
        <p:spPr>
          <a:xfrm>
            <a:off x="15197139" y="4427908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350" dirty="0"/>
          </a:p>
        </p:txBody>
      </p:sp>
      <p:sp>
        <p:nvSpPr>
          <p:cNvPr id="59" name="Shape 55"/>
          <p:cNvSpPr/>
          <p:nvPr/>
        </p:nvSpPr>
        <p:spPr>
          <a:xfrm>
            <a:off x="16066634" y="4773529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6"/>
          <p:cNvSpPr/>
          <p:nvPr/>
        </p:nvSpPr>
        <p:spPr>
          <a:xfrm>
            <a:off x="16219034" y="4427908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</a:t>
            </a:r>
            <a:endParaRPr lang="en-US" sz="1350" dirty="0"/>
          </a:p>
        </p:txBody>
      </p:sp>
      <p:sp>
        <p:nvSpPr>
          <p:cNvPr id="61" name="Shape 57"/>
          <p:cNvSpPr/>
          <p:nvPr/>
        </p:nvSpPr>
        <p:spPr>
          <a:xfrm>
            <a:off x="9451522" y="5257944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Text 58"/>
          <p:cNvSpPr/>
          <p:nvPr/>
        </p:nvSpPr>
        <p:spPr>
          <a:xfrm>
            <a:off x="9603922" y="4912322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63" name="Shape 59"/>
          <p:cNvSpPr/>
          <p:nvPr/>
        </p:nvSpPr>
        <p:spPr>
          <a:xfrm>
            <a:off x="11087951" y="5257944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0"/>
          <p:cNvSpPr/>
          <p:nvPr/>
        </p:nvSpPr>
        <p:spPr>
          <a:xfrm>
            <a:off x="11240351" y="4912322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65" name="Shape 61"/>
          <p:cNvSpPr/>
          <p:nvPr/>
        </p:nvSpPr>
        <p:spPr>
          <a:xfrm>
            <a:off x="12789609" y="5257944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6" name="Text 62"/>
          <p:cNvSpPr/>
          <p:nvPr/>
        </p:nvSpPr>
        <p:spPr>
          <a:xfrm>
            <a:off x="12942009" y="4912322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10.0.0.5</a:t>
            </a:r>
            <a:endParaRPr lang="en-US" sz="1350" dirty="0"/>
          </a:p>
        </p:txBody>
      </p:sp>
      <p:sp>
        <p:nvSpPr>
          <p:cNvPr id="67" name="Shape 63"/>
          <p:cNvSpPr/>
          <p:nvPr/>
        </p:nvSpPr>
        <p:spPr>
          <a:xfrm>
            <a:off x="15044739" y="5257944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64"/>
          <p:cNvSpPr/>
          <p:nvPr/>
        </p:nvSpPr>
        <p:spPr>
          <a:xfrm>
            <a:off x="15197139" y="4912322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</a:t>
            </a:r>
            <a:endParaRPr lang="en-US" sz="1350" dirty="0"/>
          </a:p>
        </p:txBody>
      </p:sp>
      <p:sp>
        <p:nvSpPr>
          <p:cNvPr id="69" name="Shape 65"/>
          <p:cNvSpPr/>
          <p:nvPr/>
        </p:nvSpPr>
        <p:spPr>
          <a:xfrm>
            <a:off x="16066634" y="5257944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0" name="Text 66"/>
          <p:cNvSpPr/>
          <p:nvPr/>
        </p:nvSpPr>
        <p:spPr>
          <a:xfrm>
            <a:off x="16219034" y="4912322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18 204</a:t>
            </a:r>
            <a:endParaRPr lang="en-US" sz="1350" dirty="0"/>
          </a:p>
        </p:txBody>
      </p:sp>
      <p:sp>
        <p:nvSpPr>
          <p:cNvPr id="71" name="Shape 67"/>
          <p:cNvSpPr/>
          <p:nvPr/>
        </p:nvSpPr>
        <p:spPr>
          <a:xfrm>
            <a:off x="9451522" y="5263387"/>
            <a:ext cx="7976507" cy="484414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Shape 68"/>
          <p:cNvSpPr/>
          <p:nvPr/>
        </p:nvSpPr>
        <p:spPr>
          <a:xfrm>
            <a:off x="9451522" y="5742358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3" name="Text 69"/>
          <p:cNvSpPr/>
          <p:nvPr/>
        </p:nvSpPr>
        <p:spPr>
          <a:xfrm>
            <a:off x="9603922" y="5396737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09:14:05</a:t>
            </a:r>
            <a:endParaRPr lang="en-US" sz="1350" dirty="0"/>
          </a:p>
        </p:txBody>
      </p:sp>
      <p:sp>
        <p:nvSpPr>
          <p:cNvPr id="74" name="Shape 70"/>
          <p:cNvSpPr/>
          <p:nvPr/>
        </p:nvSpPr>
        <p:spPr>
          <a:xfrm>
            <a:off x="11087951" y="5742358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5" name="Text 71"/>
          <p:cNvSpPr/>
          <p:nvPr/>
        </p:nvSpPr>
        <p:spPr>
          <a:xfrm>
            <a:off x="11240351" y="5396737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76" name="Shape 72"/>
          <p:cNvSpPr/>
          <p:nvPr/>
        </p:nvSpPr>
        <p:spPr>
          <a:xfrm>
            <a:off x="12789609" y="5742358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7" name="Text 73"/>
          <p:cNvSpPr/>
          <p:nvPr/>
        </p:nvSpPr>
        <p:spPr>
          <a:xfrm>
            <a:off x="12942009" y="5396737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203.0.113.9</a:t>
            </a:r>
            <a:endParaRPr lang="en-US" sz="1350" dirty="0"/>
          </a:p>
        </p:txBody>
      </p:sp>
      <p:sp>
        <p:nvSpPr>
          <p:cNvPr id="78" name="Shape 74"/>
          <p:cNvSpPr/>
          <p:nvPr/>
        </p:nvSpPr>
        <p:spPr>
          <a:xfrm>
            <a:off x="15044739" y="5742358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9" name="Text 75"/>
          <p:cNvSpPr/>
          <p:nvPr/>
        </p:nvSpPr>
        <p:spPr>
          <a:xfrm>
            <a:off x="15197139" y="5396737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350" dirty="0"/>
          </a:p>
        </p:txBody>
      </p:sp>
      <p:sp>
        <p:nvSpPr>
          <p:cNvPr id="80" name="Shape 76"/>
          <p:cNvSpPr/>
          <p:nvPr/>
        </p:nvSpPr>
        <p:spPr>
          <a:xfrm>
            <a:off x="16066634" y="5742358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1" name="Text 77"/>
          <p:cNvSpPr/>
          <p:nvPr/>
        </p:nvSpPr>
        <p:spPr>
          <a:xfrm>
            <a:off x="16219034" y="5396737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350" dirty="0"/>
          </a:p>
        </p:txBody>
      </p:sp>
      <p:sp>
        <p:nvSpPr>
          <p:cNvPr id="82" name="Text 78"/>
          <p:cNvSpPr/>
          <p:nvPr/>
        </p:nvSpPr>
        <p:spPr>
          <a:xfrm>
            <a:off x="9603922" y="5881151"/>
            <a:ext cx="14078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09:15:44</a:t>
            </a:r>
            <a:endParaRPr lang="en-US" sz="1350" dirty="0"/>
          </a:p>
        </p:txBody>
      </p:sp>
      <p:sp>
        <p:nvSpPr>
          <p:cNvPr id="83" name="Text 79"/>
          <p:cNvSpPr/>
          <p:nvPr/>
        </p:nvSpPr>
        <p:spPr>
          <a:xfrm>
            <a:off x="11240351" y="5881151"/>
            <a:ext cx="147305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10.0.7.31</a:t>
            </a:r>
            <a:endParaRPr lang="en-US" sz="1350" dirty="0"/>
          </a:p>
        </p:txBody>
      </p:sp>
      <p:sp>
        <p:nvSpPr>
          <p:cNvPr id="84" name="Text 80"/>
          <p:cNvSpPr/>
          <p:nvPr/>
        </p:nvSpPr>
        <p:spPr>
          <a:xfrm>
            <a:off x="12942009" y="5881151"/>
            <a:ext cx="20265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10.0.0.5</a:t>
            </a:r>
            <a:endParaRPr lang="en-US" sz="1350" dirty="0"/>
          </a:p>
        </p:txBody>
      </p:sp>
      <p:sp>
        <p:nvSpPr>
          <p:cNvPr id="85" name="Text 81"/>
          <p:cNvSpPr/>
          <p:nvPr/>
        </p:nvSpPr>
        <p:spPr>
          <a:xfrm>
            <a:off x="15197139" y="5881151"/>
            <a:ext cx="7932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</a:t>
            </a:r>
            <a:endParaRPr lang="en-US" sz="1350" dirty="0"/>
          </a:p>
        </p:txBody>
      </p:sp>
      <p:sp>
        <p:nvSpPr>
          <p:cNvPr id="86" name="Text 82"/>
          <p:cNvSpPr/>
          <p:nvPr/>
        </p:nvSpPr>
        <p:spPr>
          <a:xfrm>
            <a:off x="16219034" y="5881151"/>
            <a:ext cx="1132795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2 990</a:t>
            </a:r>
            <a:endParaRPr lang="en-US" sz="1350" dirty="0"/>
          </a:p>
        </p:txBody>
      </p:sp>
      <p:sp>
        <p:nvSpPr>
          <p:cNvPr id="87" name="Shape 83"/>
          <p:cNvSpPr/>
          <p:nvPr/>
        </p:nvSpPr>
        <p:spPr>
          <a:xfrm>
            <a:off x="857250" y="6700301"/>
            <a:ext cx="16573501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8" name="Text 84"/>
          <p:cNvSpPr/>
          <p:nvPr/>
        </p:nvSpPr>
        <p:spPr>
          <a:xfrm>
            <a:off x="857250" y="6483209"/>
            <a:ext cx="17070706" cy="3459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00"/>
              </a:lnSpc>
            </a:pPr>
            <a:endParaRPr lang="en-US" sz="2800" dirty="0">
              <a:solidFill>
                <a:srgbClr val="1620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11B895-828C-C993-9FA0-159F78BD0D15}"/>
              </a:ext>
            </a:extLst>
          </p:cNvPr>
          <p:cNvSpPr txBox="1"/>
          <p:nvPr/>
        </p:nvSpPr>
        <p:spPr>
          <a:xfrm>
            <a:off x="1012371" y="7192401"/>
            <a:ext cx="7696199" cy="963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Each row represents</a:t>
            </a:r>
            <a:r>
              <a:rPr lang="en-US" sz="24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one recorded event</a:t>
            </a: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or network flow</a:t>
            </a:r>
            <a:endParaRPr lang="en-CA" sz="14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7842A99-59A8-5453-C4B7-BC5EE2825053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D80FCE9-A23E-0FB5-AC60-78637F417DA9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8CDC846-9736-AF03-5852-AA50923BE087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10E361D-472A-84EE-E489-0E9A9E25E9E1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37CC9FF-E415-4CBA-CDEB-76B7ED6C04B3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C5CE612-9FE2-5132-C248-5C5B5354EE17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F79D97B-EDA0-6C96-1E22-F5CC73778124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ADCCAF9-004D-9413-F3E0-870EB549BE09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A1E3DA9-6D8E-3D5D-A07D-03121111883D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1F2F13-41FC-432F-1FD6-5B299A3D25AC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D1C6271-F657-6135-151A-985A6D4E404C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412A569C-3CB9-1F8C-BF73-B26ECBBA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98" name="Text 5">
            <a:extLst>
              <a:ext uri="{FF2B5EF4-FFF2-40B4-BE49-F238E27FC236}">
                <a16:creationId xmlns:a16="http://schemas.microsoft.com/office/drawing/2014/main" id="{ACE90446-7D20-9D16-9860-BCE2267A9CB1}"/>
              </a:ext>
            </a:extLst>
          </p:cNvPr>
          <p:cNvSpPr/>
          <p:nvPr/>
        </p:nvSpPr>
        <p:spPr>
          <a:xfrm>
            <a:off x="1562477" y="3864450"/>
            <a:ext cx="5503333" cy="36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>
              <a:lnSpc>
                <a:spcPct val="71655"/>
              </a:lnSpc>
            </a:pPr>
            <a:r>
              <a:rPr lang="en-US" sz="2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Process Telemetry</a:t>
            </a:r>
          </a:p>
        </p:txBody>
      </p:sp>
      <p:sp>
        <p:nvSpPr>
          <p:cNvPr id="106" name="Text 5">
            <a:extLst>
              <a:ext uri="{FF2B5EF4-FFF2-40B4-BE49-F238E27FC236}">
                <a16:creationId xmlns:a16="http://schemas.microsoft.com/office/drawing/2014/main" id="{6532F81D-C0CD-E60A-AE94-3FA1BDC80FE2}"/>
              </a:ext>
            </a:extLst>
          </p:cNvPr>
          <p:cNvSpPr/>
          <p:nvPr/>
        </p:nvSpPr>
        <p:spPr>
          <a:xfrm>
            <a:off x="10168182" y="3883713"/>
            <a:ext cx="5384733" cy="6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>
              <a:lnSpc>
                <a:spcPct val="71655"/>
              </a:lnSpc>
              <a:buNone/>
            </a:pPr>
            <a:r>
              <a:rPr lang="en-US" sz="2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Network Telemetry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2C45A8E-8365-B9E9-ECCA-D9B5FEABE2C8}"/>
              </a:ext>
            </a:extLst>
          </p:cNvPr>
          <p:cNvSpPr txBox="1"/>
          <p:nvPr/>
        </p:nvSpPr>
        <p:spPr>
          <a:xfrm>
            <a:off x="9222661" y="7192401"/>
            <a:ext cx="7696199" cy="2124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Each column represents a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0"/>
                <a:cs typeface="Arial" pitchFamily="34" charset="-120"/>
              </a:rPr>
              <a:t>feature</a:t>
            </a: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</a:t>
            </a:r>
          </a:p>
          <a:p>
            <a:pPr marL="800100" lvl="1" indent="-3429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A </a:t>
            </a:r>
            <a:r>
              <a:rPr lang="en-US" sz="24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distinct unit of information </a:t>
            </a: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recorded for each event</a:t>
            </a:r>
            <a:b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4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1DC18C37-AD08-0C76-7006-7F0B5B15F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41" y="3776898"/>
            <a:ext cx="474888" cy="474888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277C3612-5EEF-0DA1-ACE8-F550CE764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371" y="3761991"/>
            <a:ext cx="475488" cy="475488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210839C7-0BB3-28CE-356E-FEC53E8D4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FFAC1-6963-98B7-B703-22FBBCC3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3207B6-BCCF-7266-68A5-45E162D0ACEB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2E9970-127A-593C-BAD3-4BECD7E1810F}"/>
              </a:ext>
            </a:extLst>
          </p:cNvPr>
          <p:cNvSpPr/>
          <p:nvPr/>
        </p:nvSpPr>
        <p:spPr>
          <a:xfrm>
            <a:off x="857250" y="533400"/>
            <a:ext cx="2926403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BACKGROUND · THE DATA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645BD4-5AE4-7FC1-88F3-FF8E877985EB}"/>
              </a:ext>
            </a:extLst>
          </p:cNvPr>
          <p:cNvSpPr/>
          <p:nvPr/>
        </p:nvSpPr>
        <p:spPr>
          <a:xfrm>
            <a:off x="857250" y="1318390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1655"/>
              </a:lnSpc>
              <a:buNone/>
            </a:pPr>
            <a:r>
              <a:rPr lang="en-US" sz="885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Cybersecurity Begins With </a:t>
            </a:r>
            <a:r>
              <a:rPr lang="en-US" sz="8850" b="1" kern="0" spc="-88" dirty="0">
                <a:solidFill>
                  <a:schemeClr val="accent5">
                    <a:lumMod val="75000"/>
                  </a:schemeClr>
                </a:solidFill>
                <a:latin typeface="Avenir Next LT Pro" panose="020B0504020202020204" pitchFamily="34" charset="0"/>
              </a:rPr>
              <a:t>Records Of Activity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9610E0-2A4B-02C3-A06B-088BE75F662E}"/>
              </a:ext>
            </a:extLst>
          </p:cNvPr>
          <p:cNvSpPr/>
          <p:nvPr/>
        </p:nvSpPr>
        <p:spPr>
          <a:xfrm>
            <a:off x="857250" y="2242768"/>
            <a:ext cx="1314640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Avenir Next LT Pro Demi" panose="020B0704020202020204" pitchFamily="34" charset="0"/>
                <a:cs typeface="Arial" pitchFamily="34" charset="-120"/>
              </a:rPr>
              <a:t>The analyst chooses which feature columns to keep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E1BABCD-C39A-CFAE-DCC9-06B6C825C837}"/>
              </a:ext>
            </a:extLst>
          </p:cNvPr>
          <p:cNvSpPr/>
          <p:nvPr/>
        </p:nvSpPr>
        <p:spPr>
          <a:xfrm>
            <a:off x="857250" y="3886966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  <a:effectLst>
            <a:outerShdw blurRad="50800" dist="50800" dir="834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B5EC087-08EB-3B15-CC57-1A2BDAFA27A9}"/>
              </a:ext>
            </a:extLst>
          </p:cNvPr>
          <p:cNvSpPr/>
          <p:nvPr/>
        </p:nvSpPr>
        <p:spPr>
          <a:xfrm>
            <a:off x="859971" y="3889687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434EC81-71DC-46C4-F791-BD2B41ABC081}"/>
              </a:ext>
            </a:extLst>
          </p:cNvPr>
          <p:cNvSpPr/>
          <p:nvPr/>
        </p:nvSpPr>
        <p:spPr>
          <a:xfrm>
            <a:off x="859971" y="4368658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839FA67-20B0-BC39-EBFA-D554BCFD873E}"/>
              </a:ext>
            </a:extLst>
          </p:cNvPr>
          <p:cNvSpPr/>
          <p:nvPr/>
        </p:nvSpPr>
        <p:spPr>
          <a:xfrm>
            <a:off x="1012371" y="4023037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218659A-FE94-142F-652C-D56E5AB4B5E4}"/>
              </a:ext>
            </a:extLst>
          </p:cNvPr>
          <p:cNvSpPr/>
          <p:nvPr/>
        </p:nvSpPr>
        <p:spPr>
          <a:xfrm>
            <a:off x="2398004" y="4368658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7D14224-F83C-88A8-8EF5-8C66F66BC0F8}"/>
              </a:ext>
            </a:extLst>
          </p:cNvPr>
          <p:cNvSpPr/>
          <p:nvPr/>
        </p:nvSpPr>
        <p:spPr>
          <a:xfrm>
            <a:off x="2550404" y="4023037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55E377A-6F33-E13A-1812-9D16C2A68ECD}"/>
              </a:ext>
            </a:extLst>
          </p:cNvPr>
          <p:cNvSpPr/>
          <p:nvPr/>
        </p:nvSpPr>
        <p:spPr>
          <a:xfrm>
            <a:off x="4188024" y="4368658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7DB2CC6-270B-6873-A024-60CE821AF65C}"/>
              </a:ext>
            </a:extLst>
          </p:cNvPr>
          <p:cNvSpPr/>
          <p:nvPr/>
        </p:nvSpPr>
        <p:spPr>
          <a:xfrm>
            <a:off x="4340424" y="4023037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strike="sngStrike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50" strike="sngStrike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36A54A7-B159-4BBD-A114-09CE9E5E1754}"/>
              </a:ext>
            </a:extLst>
          </p:cNvPr>
          <p:cNvSpPr/>
          <p:nvPr/>
        </p:nvSpPr>
        <p:spPr>
          <a:xfrm>
            <a:off x="5667120" y="4368658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683679C-6132-C8A9-4197-9FFA478A3F91}"/>
              </a:ext>
            </a:extLst>
          </p:cNvPr>
          <p:cNvSpPr/>
          <p:nvPr/>
        </p:nvSpPr>
        <p:spPr>
          <a:xfrm>
            <a:off x="5819520" y="4023037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3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BA44284-19D4-9543-5516-C2644770E1C4}"/>
              </a:ext>
            </a:extLst>
          </p:cNvPr>
          <p:cNvSpPr/>
          <p:nvPr/>
        </p:nvSpPr>
        <p:spPr>
          <a:xfrm>
            <a:off x="7120873" y="4368658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A908DFB-2662-2CFB-E18D-2BC85816F87C}"/>
              </a:ext>
            </a:extLst>
          </p:cNvPr>
          <p:cNvSpPr/>
          <p:nvPr/>
        </p:nvSpPr>
        <p:spPr>
          <a:xfrm>
            <a:off x="7273273" y="4023037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1350" strike="sngStrike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file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4F455B4-F7C4-8F13-BE44-2B5F5795C7F8}"/>
              </a:ext>
            </a:extLst>
          </p:cNvPr>
          <p:cNvSpPr/>
          <p:nvPr/>
        </p:nvSpPr>
        <p:spPr>
          <a:xfrm>
            <a:off x="859971" y="4853073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4E346FC-7538-110A-B322-858E33550EB9}"/>
              </a:ext>
            </a:extLst>
          </p:cNvPr>
          <p:cNvSpPr/>
          <p:nvPr/>
        </p:nvSpPr>
        <p:spPr>
          <a:xfrm>
            <a:off x="1012371" y="4507451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2EC3414-8935-00B2-CD7C-4E8DD214D984}"/>
              </a:ext>
            </a:extLst>
          </p:cNvPr>
          <p:cNvSpPr/>
          <p:nvPr/>
        </p:nvSpPr>
        <p:spPr>
          <a:xfrm>
            <a:off x="2398004" y="4853073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AB91C1A-F92B-A26B-917D-04F0BF7D8448}"/>
              </a:ext>
            </a:extLst>
          </p:cNvPr>
          <p:cNvSpPr/>
          <p:nvPr/>
        </p:nvSpPr>
        <p:spPr>
          <a:xfrm>
            <a:off x="2550404" y="4507451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</a:t>
            </a:r>
            <a:endParaRPr lang="en-US" sz="13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FB27A95-80DA-542E-8811-BC068581970B}"/>
              </a:ext>
            </a:extLst>
          </p:cNvPr>
          <p:cNvSpPr/>
          <p:nvPr/>
        </p:nvSpPr>
        <p:spPr>
          <a:xfrm>
            <a:off x="4188024" y="4853073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C16958A-EE6C-7BA6-93C5-08E520756AC2}"/>
              </a:ext>
            </a:extLst>
          </p:cNvPr>
          <p:cNvSpPr/>
          <p:nvPr/>
        </p:nvSpPr>
        <p:spPr>
          <a:xfrm>
            <a:off x="4340424" y="4507451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341EDCCD-19BE-D031-E4F2-8E4E2495942B}"/>
              </a:ext>
            </a:extLst>
          </p:cNvPr>
          <p:cNvSpPr/>
          <p:nvPr/>
        </p:nvSpPr>
        <p:spPr>
          <a:xfrm>
            <a:off x="5667120" y="4853073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637CDAC-F25B-8BDB-5157-8B8D92FE0AFC}"/>
              </a:ext>
            </a:extLst>
          </p:cNvPr>
          <p:cNvSpPr/>
          <p:nvPr/>
        </p:nvSpPr>
        <p:spPr>
          <a:xfrm>
            <a:off x="5819520" y="4507451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61023D0-DF33-5208-330B-089FDA08B1C2}"/>
              </a:ext>
            </a:extLst>
          </p:cNvPr>
          <p:cNvSpPr/>
          <p:nvPr/>
        </p:nvSpPr>
        <p:spPr>
          <a:xfrm>
            <a:off x="7120873" y="4853073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35F5DA8-E61D-49BE-C974-8841D7E5B133}"/>
              </a:ext>
            </a:extLst>
          </p:cNvPr>
          <p:cNvSpPr/>
          <p:nvPr/>
        </p:nvSpPr>
        <p:spPr>
          <a:xfrm>
            <a:off x="7273273" y="4507451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setup.tmp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55200EC-8633-6780-7FE1-D624AD0F0CFF}"/>
              </a:ext>
            </a:extLst>
          </p:cNvPr>
          <p:cNvSpPr/>
          <p:nvPr/>
        </p:nvSpPr>
        <p:spPr>
          <a:xfrm>
            <a:off x="859971" y="4858516"/>
            <a:ext cx="7976507" cy="484414"/>
          </a:xfrm>
          <a:prstGeom prst="rect">
            <a:avLst/>
          </a:prstGeom>
          <a:solidFill>
            <a:srgbClr val="EAF2F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D5ECDE85-B146-0724-F63B-595F49B51820}"/>
              </a:ext>
            </a:extLst>
          </p:cNvPr>
          <p:cNvSpPr/>
          <p:nvPr/>
        </p:nvSpPr>
        <p:spPr>
          <a:xfrm>
            <a:off x="859971" y="5337487"/>
            <a:ext cx="153803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B645F3E-8562-072D-59FB-21351F839FF3}"/>
              </a:ext>
            </a:extLst>
          </p:cNvPr>
          <p:cNvSpPr/>
          <p:nvPr/>
        </p:nvSpPr>
        <p:spPr>
          <a:xfrm>
            <a:off x="1012371" y="4991866"/>
            <a:ext cx="1309432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09:14:07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495E7BE-95B2-2CA1-C854-8E682C898C29}"/>
              </a:ext>
            </a:extLst>
          </p:cNvPr>
          <p:cNvSpPr/>
          <p:nvPr/>
        </p:nvSpPr>
        <p:spPr>
          <a:xfrm>
            <a:off x="2398004" y="5337487"/>
            <a:ext cx="1790020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0A72697-151E-7BFB-B929-68A52504C2EA}"/>
              </a:ext>
            </a:extLst>
          </p:cNvPr>
          <p:cNvSpPr/>
          <p:nvPr/>
        </p:nvSpPr>
        <p:spPr>
          <a:xfrm>
            <a:off x="2550404" y="4991866"/>
            <a:ext cx="1561420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rundll32</a:t>
            </a:r>
            <a:endParaRPr lang="en-US" sz="135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C11177F9-BAA5-B846-67C5-5A842EBDF408}"/>
              </a:ext>
            </a:extLst>
          </p:cNvPr>
          <p:cNvSpPr/>
          <p:nvPr/>
        </p:nvSpPr>
        <p:spPr>
          <a:xfrm>
            <a:off x="4188024" y="5337487"/>
            <a:ext cx="14790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EFA054A-5EDC-A41B-FB2F-2532DCC7FD52}"/>
              </a:ext>
            </a:extLst>
          </p:cNvPr>
          <p:cNvSpPr/>
          <p:nvPr/>
        </p:nvSpPr>
        <p:spPr>
          <a:xfrm>
            <a:off x="4340424" y="4991866"/>
            <a:ext cx="12504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j.dupont</a:t>
            </a:r>
            <a:endParaRPr lang="en-US" sz="13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21CEE138-0CE2-8B87-AA38-41411F22DBCC}"/>
              </a:ext>
            </a:extLst>
          </p:cNvPr>
          <p:cNvSpPr/>
          <p:nvPr/>
        </p:nvSpPr>
        <p:spPr>
          <a:xfrm>
            <a:off x="5667120" y="5337487"/>
            <a:ext cx="1453753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18C8197-B752-2467-D258-4668B3758835}"/>
              </a:ext>
            </a:extLst>
          </p:cNvPr>
          <p:cNvSpPr/>
          <p:nvPr/>
        </p:nvSpPr>
        <p:spPr>
          <a:xfrm>
            <a:off x="5819520" y="4991866"/>
            <a:ext cx="1225153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WS-114</a:t>
            </a:r>
            <a:endParaRPr lang="en-US" sz="135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C062B877-17C7-F1A6-714D-4B452AB4AC3F}"/>
              </a:ext>
            </a:extLst>
          </p:cNvPr>
          <p:cNvSpPr/>
          <p:nvPr/>
        </p:nvSpPr>
        <p:spPr>
          <a:xfrm>
            <a:off x="7120873" y="5337487"/>
            <a:ext cx="171560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D5DEA15-E5A8-D601-51D5-C18901A898CF}"/>
              </a:ext>
            </a:extLst>
          </p:cNvPr>
          <p:cNvSpPr/>
          <p:nvPr/>
        </p:nvSpPr>
        <p:spPr>
          <a:xfrm>
            <a:off x="7273273" y="4991866"/>
            <a:ext cx="148700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setup.tmp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0064263-E1D2-8561-8077-CCFCA1C7F182}"/>
              </a:ext>
            </a:extLst>
          </p:cNvPr>
          <p:cNvSpPr/>
          <p:nvPr/>
        </p:nvSpPr>
        <p:spPr>
          <a:xfrm>
            <a:off x="1012371" y="5476280"/>
            <a:ext cx="1309432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09:15:31</a:t>
            </a:r>
            <a:endParaRPr lang="en-US" sz="13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6F985C93-4892-4B61-2731-5476A5C0D2E4}"/>
              </a:ext>
            </a:extLst>
          </p:cNvPr>
          <p:cNvSpPr/>
          <p:nvPr/>
        </p:nvSpPr>
        <p:spPr>
          <a:xfrm>
            <a:off x="2550404" y="5476280"/>
            <a:ext cx="1561420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35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5370654-D866-CE78-3279-189477E05D4D}"/>
              </a:ext>
            </a:extLst>
          </p:cNvPr>
          <p:cNvSpPr/>
          <p:nvPr/>
        </p:nvSpPr>
        <p:spPr>
          <a:xfrm>
            <a:off x="4340424" y="5476280"/>
            <a:ext cx="12504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m.roux</a:t>
            </a:r>
            <a:endParaRPr lang="en-US" sz="13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09A9AE80-A68F-8733-1B4B-4FE942FA6DB1}"/>
              </a:ext>
            </a:extLst>
          </p:cNvPr>
          <p:cNvSpPr/>
          <p:nvPr/>
        </p:nvSpPr>
        <p:spPr>
          <a:xfrm>
            <a:off x="5819520" y="5476280"/>
            <a:ext cx="1225153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WS-207</a:t>
            </a:r>
            <a:endParaRPr lang="en-US" sz="135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F8FFADAD-DC2A-BB5F-4569-FF72D970B273}"/>
              </a:ext>
            </a:extLst>
          </p:cNvPr>
          <p:cNvSpPr/>
          <p:nvPr/>
        </p:nvSpPr>
        <p:spPr>
          <a:xfrm>
            <a:off x="7273273" y="5476280"/>
            <a:ext cx="148700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—</a:t>
            </a:r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3EDF67B0-E306-16DB-155F-04D837B44D38}"/>
              </a:ext>
            </a:extLst>
          </p:cNvPr>
          <p:cNvSpPr/>
          <p:nvPr/>
        </p:nvSpPr>
        <p:spPr>
          <a:xfrm>
            <a:off x="9448801" y="3886966"/>
            <a:ext cx="7981951" cy="194310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  <a:effectLst>
            <a:outerShdw blurRad="50800" dist="50800" dir="8340000" algn="ctr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7FD16DB1-279A-DB80-4894-D95550A16E1D}"/>
              </a:ext>
            </a:extLst>
          </p:cNvPr>
          <p:cNvSpPr/>
          <p:nvPr/>
        </p:nvSpPr>
        <p:spPr>
          <a:xfrm>
            <a:off x="9451522" y="3889687"/>
            <a:ext cx="7976507" cy="48441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Shape 47">
            <a:extLst>
              <a:ext uri="{FF2B5EF4-FFF2-40B4-BE49-F238E27FC236}">
                <a16:creationId xmlns:a16="http://schemas.microsoft.com/office/drawing/2014/main" id="{D055E2A4-AF07-F441-7F52-2C7CF70E8460}"/>
              </a:ext>
            </a:extLst>
          </p:cNvPr>
          <p:cNvSpPr/>
          <p:nvPr/>
        </p:nvSpPr>
        <p:spPr>
          <a:xfrm>
            <a:off x="9451522" y="4368658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5513A285-14C3-8487-1E34-A82F84C7A0BF}"/>
              </a:ext>
            </a:extLst>
          </p:cNvPr>
          <p:cNvSpPr/>
          <p:nvPr/>
        </p:nvSpPr>
        <p:spPr>
          <a:xfrm>
            <a:off x="9603922" y="4023037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50" dirty="0"/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3BAF452E-44E5-33B2-255D-700950E0CD54}"/>
              </a:ext>
            </a:extLst>
          </p:cNvPr>
          <p:cNvSpPr/>
          <p:nvPr/>
        </p:nvSpPr>
        <p:spPr>
          <a:xfrm>
            <a:off x="11087951" y="4368658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4D817381-974E-BBF4-0156-05D143557241}"/>
              </a:ext>
            </a:extLst>
          </p:cNvPr>
          <p:cNvSpPr/>
          <p:nvPr/>
        </p:nvSpPr>
        <p:spPr>
          <a:xfrm>
            <a:off x="11240351" y="4023037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</a:t>
            </a:r>
            <a:endParaRPr lang="en-US" sz="1350" dirty="0"/>
          </a:p>
        </p:txBody>
      </p:sp>
      <p:sp>
        <p:nvSpPr>
          <p:cNvPr id="55" name="Shape 51">
            <a:extLst>
              <a:ext uri="{FF2B5EF4-FFF2-40B4-BE49-F238E27FC236}">
                <a16:creationId xmlns:a16="http://schemas.microsoft.com/office/drawing/2014/main" id="{DE77A8BD-7178-B982-0D2D-3582A73AAC4C}"/>
              </a:ext>
            </a:extLst>
          </p:cNvPr>
          <p:cNvSpPr/>
          <p:nvPr/>
        </p:nvSpPr>
        <p:spPr>
          <a:xfrm>
            <a:off x="12789609" y="4368658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6" name="Text 52">
            <a:extLst>
              <a:ext uri="{FF2B5EF4-FFF2-40B4-BE49-F238E27FC236}">
                <a16:creationId xmlns:a16="http://schemas.microsoft.com/office/drawing/2014/main" id="{38D8782D-F5EA-2D25-B80F-4B4C5BEB74A4}"/>
              </a:ext>
            </a:extLst>
          </p:cNvPr>
          <p:cNvSpPr/>
          <p:nvPr/>
        </p:nvSpPr>
        <p:spPr>
          <a:xfrm>
            <a:off x="12942009" y="4023037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1350" strike="sngStrike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destination IP</a:t>
            </a:r>
          </a:p>
        </p:txBody>
      </p:sp>
      <p:sp>
        <p:nvSpPr>
          <p:cNvPr id="57" name="Shape 53">
            <a:extLst>
              <a:ext uri="{FF2B5EF4-FFF2-40B4-BE49-F238E27FC236}">
                <a16:creationId xmlns:a16="http://schemas.microsoft.com/office/drawing/2014/main" id="{11E5EC59-9FE7-8F24-DFFC-D570C4E89A5E}"/>
              </a:ext>
            </a:extLst>
          </p:cNvPr>
          <p:cNvSpPr/>
          <p:nvPr/>
        </p:nvSpPr>
        <p:spPr>
          <a:xfrm>
            <a:off x="15044739" y="4368658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FFB01D26-3AAA-5F67-3780-A36F46A3D0E4}"/>
              </a:ext>
            </a:extLst>
          </p:cNvPr>
          <p:cNvSpPr/>
          <p:nvPr/>
        </p:nvSpPr>
        <p:spPr>
          <a:xfrm>
            <a:off x="15197139" y="4023037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1350" dirty="0"/>
          </a:p>
        </p:txBody>
      </p:sp>
      <p:sp>
        <p:nvSpPr>
          <p:cNvPr id="59" name="Shape 55">
            <a:extLst>
              <a:ext uri="{FF2B5EF4-FFF2-40B4-BE49-F238E27FC236}">
                <a16:creationId xmlns:a16="http://schemas.microsoft.com/office/drawing/2014/main" id="{3B1916E4-D2DA-B33E-7956-43E8606C87DE}"/>
              </a:ext>
            </a:extLst>
          </p:cNvPr>
          <p:cNvSpPr/>
          <p:nvPr/>
        </p:nvSpPr>
        <p:spPr>
          <a:xfrm>
            <a:off x="16066634" y="4368658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0" name="Text 56">
            <a:extLst>
              <a:ext uri="{FF2B5EF4-FFF2-40B4-BE49-F238E27FC236}">
                <a16:creationId xmlns:a16="http://schemas.microsoft.com/office/drawing/2014/main" id="{1D4DFA86-B238-EE07-206B-20F3FDD359EA}"/>
              </a:ext>
            </a:extLst>
          </p:cNvPr>
          <p:cNvSpPr/>
          <p:nvPr/>
        </p:nvSpPr>
        <p:spPr>
          <a:xfrm>
            <a:off x="16219034" y="4023037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1350" strike="sngStrike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bytes</a:t>
            </a:r>
          </a:p>
        </p:txBody>
      </p:sp>
      <p:sp>
        <p:nvSpPr>
          <p:cNvPr id="61" name="Shape 57">
            <a:extLst>
              <a:ext uri="{FF2B5EF4-FFF2-40B4-BE49-F238E27FC236}">
                <a16:creationId xmlns:a16="http://schemas.microsoft.com/office/drawing/2014/main" id="{06E16480-A711-C25C-CC5E-8FA2DFD6962D}"/>
              </a:ext>
            </a:extLst>
          </p:cNvPr>
          <p:cNvSpPr/>
          <p:nvPr/>
        </p:nvSpPr>
        <p:spPr>
          <a:xfrm>
            <a:off x="9451522" y="4853073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2" name="Text 58">
            <a:extLst>
              <a:ext uri="{FF2B5EF4-FFF2-40B4-BE49-F238E27FC236}">
                <a16:creationId xmlns:a16="http://schemas.microsoft.com/office/drawing/2014/main" id="{78ED757F-57D8-A0A3-74C2-07F1D56027EC}"/>
              </a:ext>
            </a:extLst>
          </p:cNvPr>
          <p:cNvSpPr/>
          <p:nvPr/>
        </p:nvSpPr>
        <p:spPr>
          <a:xfrm>
            <a:off x="9603922" y="4507451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09:14:02</a:t>
            </a:r>
            <a:endParaRPr lang="en-US" sz="1350" dirty="0"/>
          </a:p>
        </p:txBody>
      </p:sp>
      <p:sp>
        <p:nvSpPr>
          <p:cNvPr id="63" name="Shape 59">
            <a:extLst>
              <a:ext uri="{FF2B5EF4-FFF2-40B4-BE49-F238E27FC236}">
                <a16:creationId xmlns:a16="http://schemas.microsoft.com/office/drawing/2014/main" id="{8433DC97-0E09-326B-29EE-45B4C9026FA2}"/>
              </a:ext>
            </a:extLst>
          </p:cNvPr>
          <p:cNvSpPr/>
          <p:nvPr/>
        </p:nvSpPr>
        <p:spPr>
          <a:xfrm>
            <a:off x="11087951" y="4853073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4" name="Text 60">
            <a:extLst>
              <a:ext uri="{FF2B5EF4-FFF2-40B4-BE49-F238E27FC236}">
                <a16:creationId xmlns:a16="http://schemas.microsoft.com/office/drawing/2014/main" id="{D223D2B0-EFE0-1DE9-7145-C79E03E1EECB}"/>
              </a:ext>
            </a:extLst>
          </p:cNvPr>
          <p:cNvSpPr/>
          <p:nvPr/>
        </p:nvSpPr>
        <p:spPr>
          <a:xfrm>
            <a:off x="11240351" y="4507451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65" name="Shape 61">
            <a:extLst>
              <a:ext uri="{FF2B5EF4-FFF2-40B4-BE49-F238E27FC236}">
                <a16:creationId xmlns:a16="http://schemas.microsoft.com/office/drawing/2014/main" id="{11304F84-868E-A929-5A1F-A0F956340698}"/>
              </a:ext>
            </a:extLst>
          </p:cNvPr>
          <p:cNvSpPr/>
          <p:nvPr/>
        </p:nvSpPr>
        <p:spPr>
          <a:xfrm>
            <a:off x="12789609" y="4853073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6" name="Text 62">
            <a:extLst>
              <a:ext uri="{FF2B5EF4-FFF2-40B4-BE49-F238E27FC236}">
                <a16:creationId xmlns:a16="http://schemas.microsoft.com/office/drawing/2014/main" id="{699AB5E7-E9EC-4A32-92D9-B19A741001E1}"/>
              </a:ext>
            </a:extLst>
          </p:cNvPr>
          <p:cNvSpPr/>
          <p:nvPr/>
        </p:nvSpPr>
        <p:spPr>
          <a:xfrm>
            <a:off x="12942009" y="4507451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10.0.0.5</a:t>
            </a:r>
          </a:p>
        </p:txBody>
      </p:sp>
      <p:sp>
        <p:nvSpPr>
          <p:cNvPr id="67" name="Shape 63">
            <a:extLst>
              <a:ext uri="{FF2B5EF4-FFF2-40B4-BE49-F238E27FC236}">
                <a16:creationId xmlns:a16="http://schemas.microsoft.com/office/drawing/2014/main" id="{967F6203-4C8E-4568-2804-9B10DEB828D8}"/>
              </a:ext>
            </a:extLst>
          </p:cNvPr>
          <p:cNvSpPr/>
          <p:nvPr/>
        </p:nvSpPr>
        <p:spPr>
          <a:xfrm>
            <a:off x="15044739" y="4853073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8" name="Text 64">
            <a:extLst>
              <a:ext uri="{FF2B5EF4-FFF2-40B4-BE49-F238E27FC236}">
                <a16:creationId xmlns:a16="http://schemas.microsoft.com/office/drawing/2014/main" id="{3D8EC238-150F-CD9C-1D15-711E07CE02F5}"/>
              </a:ext>
            </a:extLst>
          </p:cNvPr>
          <p:cNvSpPr/>
          <p:nvPr/>
        </p:nvSpPr>
        <p:spPr>
          <a:xfrm>
            <a:off x="15197139" y="4507451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</a:t>
            </a:r>
            <a:endParaRPr lang="en-US" sz="1350" dirty="0"/>
          </a:p>
        </p:txBody>
      </p:sp>
      <p:sp>
        <p:nvSpPr>
          <p:cNvPr id="69" name="Shape 65">
            <a:extLst>
              <a:ext uri="{FF2B5EF4-FFF2-40B4-BE49-F238E27FC236}">
                <a16:creationId xmlns:a16="http://schemas.microsoft.com/office/drawing/2014/main" id="{4E19AD2E-715D-AD8F-5A92-AD018FF52A1E}"/>
              </a:ext>
            </a:extLst>
          </p:cNvPr>
          <p:cNvSpPr/>
          <p:nvPr/>
        </p:nvSpPr>
        <p:spPr>
          <a:xfrm>
            <a:off x="16066634" y="4853073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0" name="Text 66">
            <a:extLst>
              <a:ext uri="{FF2B5EF4-FFF2-40B4-BE49-F238E27FC236}">
                <a16:creationId xmlns:a16="http://schemas.microsoft.com/office/drawing/2014/main" id="{C8354EC0-B6A5-9B28-DF7A-6D79F1D03390}"/>
              </a:ext>
            </a:extLst>
          </p:cNvPr>
          <p:cNvSpPr/>
          <p:nvPr/>
        </p:nvSpPr>
        <p:spPr>
          <a:xfrm>
            <a:off x="16219034" y="4507451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18 204</a:t>
            </a:r>
          </a:p>
        </p:txBody>
      </p:sp>
      <p:sp>
        <p:nvSpPr>
          <p:cNvPr id="71" name="Shape 67">
            <a:extLst>
              <a:ext uri="{FF2B5EF4-FFF2-40B4-BE49-F238E27FC236}">
                <a16:creationId xmlns:a16="http://schemas.microsoft.com/office/drawing/2014/main" id="{98E255E8-07DF-0759-20BC-A86FAB7D1D8C}"/>
              </a:ext>
            </a:extLst>
          </p:cNvPr>
          <p:cNvSpPr/>
          <p:nvPr/>
        </p:nvSpPr>
        <p:spPr>
          <a:xfrm>
            <a:off x="9451522" y="4858516"/>
            <a:ext cx="7976507" cy="484414"/>
          </a:xfrm>
          <a:prstGeom prst="rect">
            <a:avLst/>
          </a:prstGeom>
          <a:solidFill>
            <a:srgbClr val="E8F4F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2" name="Shape 68">
            <a:extLst>
              <a:ext uri="{FF2B5EF4-FFF2-40B4-BE49-F238E27FC236}">
                <a16:creationId xmlns:a16="http://schemas.microsoft.com/office/drawing/2014/main" id="{C36AE88E-6ED3-EE55-D52C-12A279AD99F5}"/>
              </a:ext>
            </a:extLst>
          </p:cNvPr>
          <p:cNvSpPr/>
          <p:nvPr/>
        </p:nvSpPr>
        <p:spPr>
          <a:xfrm>
            <a:off x="9451522" y="5337487"/>
            <a:ext cx="16364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3" name="Text 69">
            <a:extLst>
              <a:ext uri="{FF2B5EF4-FFF2-40B4-BE49-F238E27FC236}">
                <a16:creationId xmlns:a16="http://schemas.microsoft.com/office/drawing/2014/main" id="{7157D284-8285-2FF5-2192-C89130E30042}"/>
              </a:ext>
            </a:extLst>
          </p:cNvPr>
          <p:cNvSpPr/>
          <p:nvPr/>
        </p:nvSpPr>
        <p:spPr>
          <a:xfrm>
            <a:off x="9603922" y="4991866"/>
            <a:ext cx="14078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09:14:05</a:t>
            </a:r>
            <a:endParaRPr lang="en-US" sz="1350" dirty="0"/>
          </a:p>
        </p:txBody>
      </p:sp>
      <p:sp>
        <p:nvSpPr>
          <p:cNvPr id="74" name="Shape 70">
            <a:extLst>
              <a:ext uri="{FF2B5EF4-FFF2-40B4-BE49-F238E27FC236}">
                <a16:creationId xmlns:a16="http://schemas.microsoft.com/office/drawing/2014/main" id="{4613C898-0679-C60A-FDE1-F6B3D73EDEB4}"/>
              </a:ext>
            </a:extLst>
          </p:cNvPr>
          <p:cNvSpPr/>
          <p:nvPr/>
        </p:nvSpPr>
        <p:spPr>
          <a:xfrm>
            <a:off x="11087951" y="5337487"/>
            <a:ext cx="1701658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5" name="Text 71">
            <a:extLst>
              <a:ext uri="{FF2B5EF4-FFF2-40B4-BE49-F238E27FC236}">
                <a16:creationId xmlns:a16="http://schemas.microsoft.com/office/drawing/2014/main" id="{DE466B54-1FC5-1A73-43EA-1A9F28E4D56E}"/>
              </a:ext>
            </a:extLst>
          </p:cNvPr>
          <p:cNvSpPr/>
          <p:nvPr/>
        </p:nvSpPr>
        <p:spPr>
          <a:xfrm>
            <a:off x="11240351" y="4991866"/>
            <a:ext cx="1473058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10.0.4.12</a:t>
            </a:r>
            <a:endParaRPr lang="en-US" sz="1350" dirty="0"/>
          </a:p>
        </p:txBody>
      </p:sp>
      <p:sp>
        <p:nvSpPr>
          <p:cNvPr id="76" name="Shape 72">
            <a:extLst>
              <a:ext uri="{FF2B5EF4-FFF2-40B4-BE49-F238E27FC236}">
                <a16:creationId xmlns:a16="http://schemas.microsoft.com/office/drawing/2014/main" id="{60083B2A-33FF-69F2-E44D-4E2E7A321830}"/>
              </a:ext>
            </a:extLst>
          </p:cNvPr>
          <p:cNvSpPr/>
          <p:nvPr/>
        </p:nvSpPr>
        <p:spPr>
          <a:xfrm>
            <a:off x="12789609" y="5337487"/>
            <a:ext cx="2255129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7" name="Text 73">
            <a:extLst>
              <a:ext uri="{FF2B5EF4-FFF2-40B4-BE49-F238E27FC236}">
                <a16:creationId xmlns:a16="http://schemas.microsoft.com/office/drawing/2014/main" id="{C5EC7DE6-B505-0C12-06E2-DF87B9E8EC0F}"/>
              </a:ext>
            </a:extLst>
          </p:cNvPr>
          <p:cNvSpPr/>
          <p:nvPr/>
        </p:nvSpPr>
        <p:spPr>
          <a:xfrm>
            <a:off x="12942009" y="4991866"/>
            <a:ext cx="2026529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203.0.113.9</a:t>
            </a:r>
          </a:p>
        </p:txBody>
      </p:sp>
      <p:sp>
        <p:nvSpPr>
          <p:cNvPr id="78" name="Shape 74">
            <a:extLst>
              <a:ext uri="{FF2B5EF4-FFF2-40B4-BE49-F238E27FC236}">
                <a16:creationId xmlns:a16="http://schemas.microsoft.com/office/drawing/2014/main" id="{20E963A6-CBEC-BA3A-5589-E6191038AE10}"/>
              </a:ext>
            </a:extLst>
          </p:cNvPr>
          <p:cNvSpPr/>
          <p:nvPr/>
        </p:nvSpPr>
        <p:spPr>
          <a:xfrm>
            <a:off x="15044739" y="5337487"/>
            <a:ext cx="1021896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9" name="Text 75">
            <a:extLst>
              <a:ext uri="{FF2B5EF4-FFF2-40B4-BE49-F238E27FC236}">
                <a16:creationId xmlns:a16="http://schemas.microsoft.com/office/drawing/2014/main" id="{9A383A1C-CBDC-E955-C377-DFA7E1BF7C7B}"/>
              </a:ext>
            </a:extLst>
          </p:cNvPr>
          <p:cNvSpPr/>
          <p:nvPr/>
        </p:nvSpPr>
        <p:spPr>
          <a:xfrm>
            <a:off x="15197139" y="4991866"/>
            <a:ext cx="793296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350" dirty="0"/>
          </a:p>
        </p:txBody>
      </p:sp>
      <p:sp>
        <p:nvSpPr>
          <p:cNvPr id="80" name="Shape 76">
            <a:extLst>
              <a:ext uri="{FF2B5EF4-FFF2-40B4-BE49-F238E27FC236}">
                <a16:creationId xmlns:a16="http://schemas.microsoft.com/office/drawing/2014/main" id="{8AFD48F1-613D-3D5D-0D0A-66C3E4ADB813}"/>
              </a:ext>
            </a:extLst>
          </p:cNvPr>
          <p:cNvSpPr/>
          <p:nvPr/>
        </p:nvSpPr>
        <p:spPr>
          <a:xfrm>
            <a:off x="16066634" y="5337487"/>
            <a:ext cx="136139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1" name="Text 77">
            <a:extLst>
              <a:ext uri="{FF2B5EF4-FFF2-40B4-BE49-F238E27FC236}">
                <a16:creationId xmlns:a16="http://schemas.microsoft.com/office/drawing/2014/main" id="{0F851F5F-9623-357E-6122-8C35CA7BE0EB}"/>
              </a:ext>
            </a:extLst>
          </p:cNvPr>
          <p:cNvSpPr/>
          <p:nvPr/>
        </p:nvSpPr>
        <p:spPr>
          <a:xfrm>
            <a:off x="16219034" y="4991866"/>
            <a:ext cx="1132795" cy="250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61</a:t>
            </a:r>
          </a:p>
        </p:txBody>
      </p:sp>
      <p:sp>
        <p:nvSpPr>
          <p:cNvPr id="82" name="Text 78">
            <a:extLst>
              <a:ext uri="{FF2B5EF4-FFF2-40B4-BE49-F238E27FC236}">
                <a16:creationId xmlns:a16="http://schemas.microsoft.com/office/drawing/2014/main" id="{1047B10E-6384-6D16-5952-CD03DB43C221}"/>
              </a:ext>
            </a:extLst>
          </p:cNvPr>
          <p:cNvSpPr/>
          <p:nvPr/>
        </p:nvSpPr>
        <p:spPr>
          <a:xfrm>
            <a:off x="9603922" y="5476280"/>
            <a:ext cx="14078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09:15:44</a:t>
            </a:r>
            <a:endParaRPr lang="en-US" sz="1350" dirty="0"/>
          </a:p>
        </p:txBody>
      </p:sp>
      <p:sp>
        <p:nvSpPr>
          <p:cNvPr id="83" name="Text 79">
            <a:extLst>
              <a:ext uri="{FF2B5EF4-FFF2-40B4-BE49-F238E27FC236}">
                <a16:creationId xmlns:a16="http://schemas.microsoft.com/office/drawing/2014/main" id="{46B5EAA4-C3EE-1DEA-103F-1B44FF090268}"/>
              </a:ext>
            </a:extLst>
          </p:cNvPr>
          <p:cNvSpPr/>
          <p:nvPr/>
        </p:nvSpPr>
        <p:spPr>
          <a:xfrm>
            <a:off x="11240351" y="5476280"/>
            <a:ext cx="147305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10.0.7.31</a:t>
            </a:r>
            <a:endParaRPr lang="en-US" sz="1350" dirty="0"/>
          </a:p>
        </p:txBody>
      </p:sp>
      <p:sp>
        <p:nvSpPr>
          <p:cNvPr id="84" name="Text 80">
            <a:extLst>
              <a:ext uri="{FF2B5EF4-FFF2-40B4-BE49-F238E27FC236}">
                <a16:creationId xmlns:a16="http://schemas.microsoft.com/office/drawing/2014/main" id="{C8C60B8C-DB68-3922-7147-21ECEDE25175}"/>
              </a:ext>
            </a:extLst>
          </p:cNvPr>
          <p:cNvSpPr/>
          <p:nvPr/>
        </p:nvSpPr>
        <p:spPr>
          <a:xfrm>
            <a:off x="12942009" y="5476280"/>
            <a:ext cx="2026529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10.0.0.5</a:t>
            </a:r>
          </a:p>
        </p:txBody>
      </p:sp>
      <p:sp>
        <p:nvSpPr>
          <p:cNvPr id="85" name="Text 81">
            <a:extLst>
              <a:ext uri="{FF2B5EF4-FFF2-40B4-BE49-F238E27FC236}">
                <a16:creationId xmlns:a16="http://schemas.microsoft.com/office/drawing/2014/main" id="{2AF3DAB0-93F6-28CC-84B5-8603FB1DFA76}"/>
              </a:ext>
            </a:extLst>
          </p:cNvPr>
          <p:cNvSpPr/>
          <p:nvPr/>
        </p:nvSpPr>
        <p:spPr>
          <a:xfrm>
            <a:off x="15197139" y="5476280"/>
            <a:ext cx="793296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</a:t>
            </a:r>
            <a:endParaRPr lang="en-US" sz="1350" dirty="0"/>
          </a:p>
        </p:txBody>
      </p:sp>
      <p:sp>
        <p:nvSpPr>
          <p:cNvPr id="86" name="Text 82">
            <a:extLst>
              <a:ext uri="{FF2B5EF4-FFF2-40B4-BE49-F238E27FC236}">
                <a16:creationId xmlns:a16="http://schemas.microsoft.com/office/drawing/2014/main" id="{1E3C7193-6B36-5497-EE3B-A8ACB3223EBB}"/>
              </a:ext>
            </a:extLst>
          </p:cNvPr>
          <p:cNvSpPr/>
          <p:nvPr/>
        </p:nvSpPr>
        <p:spPr>
          <a:xfrm>
            <a:off x="16219034" y="5476280"/>
            <a:ext cx="1132795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r>
              <a:rPr lang="en-US" sz="135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2 990</a:t>
            </a:r>
          </a:p>
        </p:txBody>
      </p:sp>
      <p:sp>
        <p:nvSpPr>
          <p:cNvPr id="87" name="Shape 83">
            <a:extLst>
              <a:ext uri="{FF2B5EF4-FFF2-40B4-BE49-F238E27FC236}">
                <a16:creationId xmlns:a16="http://schemas.microsoft.com/office/drawing/2014/main" id="{98057FCE-DE03-9796-0AA0-97EC6C8DD982}"/>
              </a:ext>
            </a:extLst>
          </p:cNvPr>
          <p:cNvSpPr/>
          <p:nvPr/>
        </p:nvSpPr>
        <p:spPr>
          <a:xfrm>
            <a:off x="857250" y="6268216"/>
            <a:ext cx="16573501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8" name="Text 84">
            <a:extLst>
              <a:ext uri="{FF2B5EF4-FFF2-40B4-BE49-F238E27FC236}">
                <a16:creationId xmlns:a16="http://schemas.microsoft.com/office/drawing/2014/main" id="{B911248C-6170-D361-C998-C92A885B5C72}"/>
              </a:ext>
            </a:extLst>
          </p:cNvPr>
          <p:cNvSpPr/>
          <p:nvPr/>
        </p:nvSpPr>
        <p:spPr>
          <a:xfrm>
            <a:off x="857250" y="6483209"/>
            <a:ext cx="17070706" cy="3459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00"/>
              </a:lnSpc>
            </a:pPr>
            <a:endParaRPr lang="en-US" sz="2800" dirty="0">
              <a:solidFill>
                <a:srgbClr val="1620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9592707-8B73-5B7E-40CA-765E9AF25B36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8E16AB1-D06E-187F-39F3-81D5B60E5C70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CAD325E-A9AC-3B30-E635-9ED67C9CB472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30E2A598-2E23-067C-0BA6-BE3C458EC1A4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1C2D134-6E11-C484-72E2-9F7490CE2D71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97BDEC1-0BB9-49B7-3FBC-9870B6E92202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E39BD6C-1ADA-E733-2E2E-9468D4D8BDB3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7736A6-2F02-B486-9A82-0D1EE5502B92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2FB9A97-019F-658B-092A-E4EA10F37256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5B53C94-25B8-261E-645E-5D7AA5C60398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F4726C5-0188-865D-DAF2-02F913EC507C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B68FB409-C581-E3AC-70EA-E51E0D2B1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6C7266F-B20E-8A24-3324-4987451C2C8F}"/>
              </a:ext>
            </a:extLst>
          </p:cNvPr>
          <p:cNvSpPr txBox="1"/>
          <p:nvPr/>
        </p:nvSpPr>
        <p:spPr>
          <a:xfrm>
            <a:off x="637168" y="6703139"/>
            <a:ext cx="8811633" cy="2326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4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Feature Selection</a:t>
            </a:r>
          </a:p>
          <a:p>
            <a:pPr marL="800100" lvl="1" indent="-3429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Selecting which units of information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0"/>
                <a:cs typeface="Arial" pitchFamily="34" charset="-120"/>
              </a:rPr>
              <a:t>really matter</a:t>
            </a:r>
            <a:b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400" b="1" dirty="0">
              <a:solidFill>
                <a:schemeClr val="accent2">
                  <a:lumMod val="75000"/>
                </a:schemeClr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800100" lvl="1" indent="-3429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Leverages domain insight and intuition -&gt; individual decision-making</a:t>
            </a:r>
          </a:p>
        </p:txBody>
      </p:sp>
      <p:sp>
        <p:nvSpPr>
          <p:cNvPr id="98" name="Text 5">
            <a:extLst>
              <a:ext uri="{FF2B5EF4-FFF2-40B4-BE49-F238E27FC236}">
                <a16:creationId xmlns:a16="http://schemas.microsoft.com/office/drawing/2014/main" id="{23548194-9F0D-B348-AFC7-752A71CC0D1F}"/>
              </a:ext>
            </a:extLst>
          </p:cNvPr>
          <p:cNvSpPr/>
          <p:nvPr/>
        </p:nvSpPr>
        <p:spPr>
          <a:xfrm>
            <a:off x="1562477" y="3422146"/>
            <a:ext cx="5503333" cy="36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>
              <a:lnSpc>
                <a:spcPct val="71655"/>
              </a:lnSpc>
            </a:pPr>
            <a:r>
              <a:rPr lang="en-US" sz="2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Process Telemetry</a:t>
            </a:r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C9C3286A-E631-B413-F799-39F6AD75E1EC}"/>
              </a:ext>
            </a:extLst>
          </p:cNvPr>
          <p:cNvSpPr/>
          <p:nvPr/>
        </p:nvSpPr>
        <p:spPr>
          <a:xfrm>
            <a:off x="10168182" y="3441409"/>
            <a:ext cx="5384733" cy="6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>
              <a:lnSpc>
                <a:spcPct val="71655"/>
              </a:lnSpc>
              <a:buNone/>
            </a:pPr>
            <a:r>
              <a:rPr lang="en-US" sz="2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Network Telemetry</a:t>
            </a: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EF4A06B4-EF33-32E4-E252-0160E2E33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41" y="3334594"/>
            <a:ext cx="474888" cy="47488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5B288029-5F17-D827-3E3E-AF3D43B12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2371" y="3319687"/>
            <a:ext cx="475488" cy="475488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7FFE95C4-FE51-DF78-7B45-255BDF4A1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73826DE-CF56-FF47-B4F8-9C0592C92DEC}"/>
              </a:ext>
            </a:extLst>
          </p:cNvPr>
          <p:cNvSpPr txBox="1"/>
          <p:nvPr/>
        </p:nvSpPr>
        <p:spPr>
          <a:xfrm>
            <a:off x="10367459" y="6820300"/>
            <a:ext cx="6144631" cy="141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400" b="1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Sessionization</a:t>
            </a:r>
            <a:endParaRPr lang="en-US" sz="2400" b="1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800100" lvl="1" indent="-3429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Grouping records in a way that represents coherent sessions</a:t>
            </a:r>
          </a:p>
        </p:txBody>
      </p:sp>
    </p:spTree>
    <p:extLst>
      <p:ext uri="{BB962C8B-B14F-4D97-AF65-F5344CB8AC3E}">
        <p14:creationId xmlns:p14="http://schemas.microsoft.com/office/powerpoint/2010/main" val="149178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08A2E-B1D6-7259-1A8A-AB9D5661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33D92A-D70A-DD4F-7AE2-1871C8B9C2B2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9A5E84-C9C2-835B-9E85-09DE1C273771}"/>
              </a:ext>
            </a:extLst>
          </p:cNvPr>
          <p:cNvSpPr/>
          <p:nvPr/>
        </p:nvSpPr>
        <p:spPr>
          <a:xfrm>
            <a:off x="857250" y="533400"/>
            <a:ext cx="2926403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BACKGROUND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0C0E50-FE83-0BBC-3A6C-8EF049EB4FB2}"/>
              </a:ext>
            </a:extLst>
          </p:cNvPr>
          <p:cNvSpPr/>
          <p:nvPr/>
        </p:nvSpPr>
        <p:spPr>
          <a:xfrm>
            <a:off x="930822" y="1468149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1655"/>
              </a:lnSpc>
              <a:buNone/>
            </a:pPr>
            <a:r>
              <a:rPr lang="en-US" sz="885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The </a:t>
            </a:r>
            <a:r>
              <a:rPr lang="en-US" sz="8850" b="1" kern="0" spc="-88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0"/>
              </a:rPr>
              <a:t>Typical</a:t>
            </a:r>
            <a:r>
              <a:rPr lang="en-US" sz="885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 Analyst Procedure</a:t>
            </a:r>
            <a:endParaRPr lang="en-US" sz="8850" b="1" kern="0" spc="-88" dirty="0">
              <a:solidFill>
                <a:schemeClr val="accent5">
                  <a:lumMod val="75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8" name="Text 84">
            <a:extLst>
              <a:ext uri="{FF2B5EF4-FFF2-40B4-BE49-F238E27FC236}">
                <a16:creationId xmlns:a16="http://schemas.microsoft.com/office/drawing/2014/main" id="{E12C64A8-0C06-D4FF-4F3B-18C06FA7372E}"/>
              </a:ext>
            </a:extLst>
          </p:cNvPr>
          <p:cNvSpPr/>
          <p:nvPr/>
        </p:nvSpPr>
        <p:spPr>
          <a:xfrm>
            <a:off x="857250" y="6483209"/>
            <a:ext cx="17070706" cy="3459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00"/>
              </a:lnSpc>
            </a:pPr>
            <a:endParaRPr lang="en-US" sz="2800" dirty="0">
              <a:solidFill>
                <a:srgbClr val="1620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676994D-5DB3-0899-6E07-B869B7820422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9D4D3FB-DD77-06B9-2508-326D53433D17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FF3BB19-55D7-0E84-701C-D0343A850DC2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60A21CAF-1A8F-2DAE-F957-78C8FF5F9E9A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2A50875-AA3B-643F-A12A-6580D1A280B2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9E7C763-78A5-0E17-F10B-FCA3D524CC7A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D1FE7DC-F653-5B2C-782F-B2228E37C644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CB44251-425D-F29E-B4C9-5FB848F183DD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BFEA95E-FF8E-BC57-9E42-AD62719C891A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99B1A1B-A0E3-F68C-3911-52FCA92BC430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C286DB8-464C-83B1-A78B-C42643DA992A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F2D392E-DA20-9072-7D59-4B47471785F5}"/>
              </a:ext>
            </a:extLst>
          </p:cNvPr>
          <p:cNvSpPr txBox="1"/>
          <p:nvPr/>
        </p:nvSpPr>
        <p:spPr>
          <a:xfrm>
            <a:off x="1384214" y="3067249"/>
            <a:ext cx="15214685" cy="4818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22500"/>
              </a:lnSpc>
              <a:buAutoNum type="arabicPeriod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Cyber Threat Analysts work with this data to try to uncover potentially </a:t>
            </a: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malicious activity</a:t>
            </a:r>
            <a:b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b="1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514350" indent="-514350">
              <a:lnSpc>
                <a:spcPct val="122500"/>
              </a:lnSpc>
              <a:buAutoNum type="arabicPeriod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This data needs to be </a:t>
            </a: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manually ingested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, wrangled, pre-processed, modelled, etc.</a:t>
            </a:r>
            <a:b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514350" indent="-514350">
              <a:lnSpc>
                <a:spcPct val="122500"/>
              </a:lnSpc>
              <a:buAutoNum type="arabicPeriod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Threat intel researchers will employ scientific methods to build better anomaly detection pipelines and methods (Embedding Methods, DS techniques/models, visualization tools)</a:t>
            </a:r>
            <a:b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514350" indent="-514350">
              <a:lnSpc>
                <a:spcPct val="122500"/>
              </a:lnSpc>
              <a:buAutoNum type="arabicPeriod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Analysts use these tools to </a:t>
            </a: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execute better triage 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and save time finding malicious </a:t>
            </a:r>
            <a:r>
              <a:rPr lang="en-US" sz="28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behaviour</a:t>
            </a: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1EA847F9-8405-5DDE-93BC-2C436204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B4E92-A626-63C2-3E21-E0FD554D3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474" y="1329749"/>
            <a:ext cx="794658" cy="7946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C52002F-FA85-4656-9776-66A0EB65D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50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7B32A-ABA2-D799-033E-941EE49A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DA16CF-66AD-6C60-3B1B-235BD4E46357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483CD0-9753-A66C-5F15-CFF679C570D5}"/>
              </a:ext>
            </a:extLst>
          </p:cNvPr>
          <p:cNvSpPr/>
          <p:nvPr/>
        </p:nvSpPr>
        <p:spPr>
          <a:xfrm>
            <a:off x="857250" y="533400"/>
            <a:ext cx="2926403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BACKGROUND · THE PROBLEM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4DB26E4-D906-E247-73AE-3F67E6192C6B}"/>
              </a:ext>
            </a:extLst>
          </p:cNvPr>
          <p:cNvSpPr/>
          <p:nvPr/>
        </p:nvSpPr>
        <p:spPr>
          <a:xfrm>
            <a:off x="857250" y="1243897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81655"/>
              </a:lnSpc>
            </a:pPr>
            <a:r>
              <a:rPr lang="en-US" sz="55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The </a:t>
            </a:r>
            <a:r>
              <a:rPr lang="en-US" sz="5500" b="1" kern="0" spc="-88" dirty="0">
                <a:solidFill>
                  <a:schemeClr val="accent2">
                    <a:lumMod val="75000"/>
                  </a:schemeClr>
                </a:solidFill>
                <a:latin typeface="Avenir Next LT Pro" panose="020B0504020202020204" pitchFamily="34" charset="0"/>
              </a:rPr>
              <a:t>Problem</a:t>
            </a:r>
          </a:p>
        </p:txBody>
      </p:sp>
      <p:sp>
        <p:nvSpPr>
          <p:cNvPr id="88" name="Text 84">
            <a:extLst>
              <a:ext uri="{FF2B5EF4-FFF2-40B4-BE49-F238E27FC236}">
                <a16:creationId xmlns:a16="http://schemas.microsoft.com/office/drawing/2014/main" id="{16B39229-C161-82B5-F732-3389A4042715}"/>
              </a:ext>
            </a:extLst>
          </p:cNvPr>
          <p:cNvSpPr/>
          <p:nvPr/>
        </p:nvSpPr>
        <p:spPr>
          <a:xfrm>
            <a:off x="857250" y="6483209"/>
            <a:ext cx="17070706" cy="3459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00"/>
              </a:lnSpc>
            </a:pPr>
            <a:endParaRPr lang="en-US" sz="2800" dirty="0">
              <a:solidFill>
                <a:srgbClr val="1620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4DB82D8-79D4-F480-FC46-384F0AD59AF0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3522ECD-29FE-9DCA-C6A7-6F88EBD22FB7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4DAE856-5DB5-E8C6-D92D-29E1E23CCAB7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716D2BE-60A6-DD00-D845-CC17277AE0BE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5BC3318-708C-BE7C-B873-4F662582D109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59A87C7-DBB0-AFAB-7D24-714329D84563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3749B7E-D62A-F5E6-FBB0-95C877EE87AB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B615506-5135-D656-1CDB-BA095D088DE1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045E930-FE0C-D88D-92C3-2169BB61DE63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1001FB8-3249-76C5-8DF3-AA306CBAEA94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073150A-6C33-8242-AE3A-4A5A7C69E0FA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6701CF7-8EEB-54FB-163A-96FAC3052415}"/>
              </a:ext>
            </a:extLst>
          </p:cNvPr>
          <p:cNvSpPr txBox="1"/>
          <p:nvPr/>
        </p:nvSpPr>
        <p:spPr>
          <a:xfrm>
            <a:off x="3280671" y="4344985"/>
            <a:ext cx="5439760" cy="428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Analysts</a:t>
            </a:r>
            <a:b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b="1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914400" lvl="1" indent="-4572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Must rely on specialized methods </a:t>
            </a:r>
            <a:b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914400" lvl="1" indent="-4572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May or may not translate well outside of niche contexts</a:t>
            </a:r>
            <a:endParaRPr lang="en-US" sz="2800" b="1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9FA16-7374-F4B6-D86C-1DE259C92A9D}"/>
              </a:ext>
            </a:extLst>
          </p:cNvPr>
          <p:cNvSpPr txBox="1"/>
          <p:nvPr/>
        </p:nvSpPr>
        <p:spPr>
          <a:xfrm>
            <a:off x="9804645" y="4344985"/>
            <a:ext cx="6029779" cy="5878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500"/>
              </a:lnSpc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Researchers</a:t>
            </a:r>
            <a:b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b="1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914400" lvl="1" indent="-4572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No universal evaluation method</a:t>
            </a:r>
            <a:b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914400" lvl="1" indent="-4572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Niche methods with niche results</a:t>
            </a:r>
            <a:b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</a:b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914400" lvl="1" indent="-457200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Methods collapse under different contexts</a:t>
            </a:r>
          </a:p>
          <a:p>
            <a:pPr marL="914400" lvl="1" indent="-457200">
              <a:lnSpc>
                <a:spcPct val="122500"/>
              </a:lnSpc>
              <a:buFontTx/>
              <a:buChar char="-"/>
            </a:pP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A20F074-7C56-707A-B1FE-5D33B3C8CB62}"/>
              </a:ext>
            </a:extLst>
          </p:cNvPr>
          <p:cNvSpPr/>
          <p:nvPr/>
        </p:nvSpPr>
        <p:spPr>
          <a:xfrm>
            <a:off x="4000500" y="2345416"/>
            <a:ext cx="9820336" cy="145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3600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There is </a:t>
            </a:r>
            <a:r>
              <a:rPr lang="en-US" sz="3600" b="1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no shared standard</a:t>
            </a:r>
            <a:r>
              <a:rPr lang="en-US" sz="3600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 for creating, testing, and evaluating anomaly detection protocols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E54DE6-D2ED-FBAF-E9E4-4DB068298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5E6F28-520D-4209-62D9-0571D82DD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12D0E93-6D44-4386-1F77-29C9C1A3E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401" y="4332217"/>
            <a:ext cx="657164" cy="6571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618CB65-A8FD-0C8C-3D86-1D1CBD209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979" y="4324350"/>
            <a:ext cx="629936" cy="62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57250" y="533400"/>
            <a:ext cx="1393508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MOTIVATION</a:t>
            </a:r>
          </a:p>
        </p:txBody>
      </p:sp>
      <p:sp>
        <p:nvSpPr>
          <p:cNvPr id="5" name="Text 3"/>
          <p:cNvSpPr/>
          <p:nvPr/>
        </p:nvSpPr>
        <p:spPr>
          <a:xfrm>
            <a:off x="857250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indent="0">
              <a:lnSpc>
                <a:spcPct val="91655"/>
              </a:lnSpc>
              <a:buNone/>
            </a:pPr>
            <a:r>
              <a:rPr lang="en-US" sz="55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Different Datasets Expose Different </a:t>
            </a:r>
            <a:r>
              <a:rPr lang="en-US" sz="55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Behaviour</a:t>
            </a:r>
            <a:endParaRPr lang="en-US" sz="5500" b="1" kern="0" spc="-88" dirty="0">
              <a:solidFill>
                <a:srgbClr val="16202A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7250" y="2477266"/>
            <a:ext cx="5671789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Process Telemetry</a:t>
            </a:r>
            <a:endParaRPr lang="en-US" sz="2400" b="1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7250" y="2862348"/>
            <a:ext cx="56717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1600" b="1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users · hosts · parent processes · files</a:t>
            </a:r>
            <a:endParaRPr lang="en-US" sz="1600" b="1" dirty="0">
              <a:latin typeface="Avenir Next LT Pro Demi" panose="020B07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65872" y="2477266"/>
            <a:ext cx="5671789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Network Flows</a:t>
            </a:r>
            <a:endParaRPr lang="en-US" sz="2400" b="1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65872" y="2862348"/>
            <a:ext cx="56717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1600" b="1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source IPs · destination IPs · ports · protocols</a:t>
            </a:r>
            <a:endParaRPr lang="en-US" sz="1600" b="1" dirty="0">
              <a:latin typeface="Avenir Next LT Pro Demi" panose="020B07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74494" y="2477266"/>
            <a:ext cx="5671789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Authentication Events</a:t>
            </a:r>
            <a:endParaRPr lang="en-US" sz="2400" b="1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274494" y="2862348"/>
            <a:ext cx="56717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1600" b="1" dirty="0">
                <a:solidFill>
                  <a:srgbClr val="5F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· machines · login times · outcomes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857250" y="3300498"/>
            <a:ext cx="515617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 b="1">
              <a:latin typeface="Avenir Next LT Pro Demi" panose="020B07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65872" y="3300498"/>
            <a:ext cx="515617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 b="1">
              <a:latin typeface="Avenir Next LT Pro Demi" panose="020B07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274494" y="3300498"/>
            <a:ext cx="5156172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 b="1">
              <a:latin typeface="Avenir Next LT Pro Demi" panose="020B0704020202020204" pitchFamily="34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442" y="3772534"/>
            <a:ext cx="5671789" cy="17811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7250" y="6034173"/>
            <a:ext cx="5671789" cy="2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6202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Isolated Event</a:t>
            </a:r>
            <a:endParaRPr lang="en-US" b="1" dirty="0">
              <a:latin typeface="Avenir Next LT Pro Demi" panose="020B0704020202020204" pitchFamily="34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8064" y="3772534"/>
            <a:ext cx="5671789" cy="17811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65872" y="6034173"/>
            <a:ext cx="5671789" cy="2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6202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Coherent Rare Population</a:t>
            </a:r>
            <a:endParaRPr lang="en-US" b="1" dirty="0">
              <a:latin typeface="Avenir Next LT Pro Demi" panose="020B0704020202020204" pitchFamily="34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6686" y="3772534"/>
            <a:ext cx="5671789" cy="17811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274494" y="6034173"/>
            <a:ext cx="5671789" cy="2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/>
            <a:r>
              <a:rPr lang="en-US" b="1" dirty="0">
                <a:solidFill>
                  <a:srgbClr val="16202A"/>
                </a:solidFill>
                <a:latin typeface="Avenir Next LT Pro Demi" panose="020B0704020202020204" pitchFamily="34" charset="0"/>
                <a:cs typeface="Arial" pitchFamily="34" charset="-120"/>
              </a:rPr>
              <a:t>Unusual Relationship Pattern</a:t>
            </a:r>
          </a:p>
        </p:txBody>
      </p:sp>
      <p:sp>
        <p:nvSpPr>
          <p:cNvPr id="22" name="Text 17"/>
          <p:cNvSpPr/>
          <p:nvPr/>
        </p:nvSpPr>
        <p:spPr>
          <a:xfrm>
            <a:off x="1200150" y="6683812"/>
            <a:ext cx="7809358" cy="64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750"/>
              </a:lnSpc>
              <a:buNone/>
            </a:pPr>
            <a:r>
              <a:rPr lang="en-US" b="1" dirty="0">
                <a:solidFill>
                  <a:srgbClr val="16202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Entities differ </a:t>
            </a:r>
            <a:r>
              <a:rPr lang="en-US" b="1" dirty="0">
                <a:solidFill>
                  <a:srgbClr val="4E565D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— Process data has users and files; flow data has addresses and ports. The graphs are not comparable</a:t>
            </a:r>
            <a:endParaRPr lang="en-US" b="1" dirty="0">
              <a:latin typeface="Avenir Next LT Pro Demi" panose="020B0704020202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200150" y="7614511"/>
            <a:ext cx="7809358" cy="648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750"/>
              </a:lnSpc>
              <a:buNone/>
            </a:pPr>
            <a:r>
              <a:rPr lang="en-US" b="1" dirty="0">
                <a:solidFill>
                  <a:srgbClr val="16202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Anomaly shape differs </a:t>
            </a:r>
            <a:r>
              <a:rPr lang="en-US" b="1" dirty="0">
                <a:solidFill>
                  <a:srgbClr val="4E565D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— One dataset hides single outliers, another hides small coherent groups</a:t>
            </a:r>
            <a:endParaRPr lang="en-US" b="1" dirty="0">
              <a:latin typeface="Avenir Next LT Pro Demi" panose="020B0704020202020204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0439400" y="7101484"/>
            <a:ext cx="5081239" cy="743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750"/>
              </a:lnSpc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So does the right method </a:t>
            </a:r>
            <a:r>
              <a:rPr lang="en-US" dirty="0">
                <a:solidFill>
                  <a:srgbClr val="4E565D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— A detector tuned to isolated points cannot see a rare population</a:t>
            </a:r>
            <a:endParaRPr lang="en-US" dirty="0">
              <a:latin typeface="Avenir Next LT Pro Demi" panose="020B0704020202020204" pitchFamily="34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857250" y="8576162"/>
            <a:ext cx="16573501" cy="829611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Shape 25"/>
          <p:cNvSpPr/>
          <p:nvPr/>
        </p:nvSpPr>
        <p:spPr>
          <a:xfrm>
            <a:off x="857250" y="8576162"/>
            <a:ext cx="27214" cy="829611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6"/>
          <p:cNvSpPr/>
          <p:nvPr/>
        </p:nvSpPr>
        <p:spPr>
          <a:xfrm>
            <a:off x="1189264" y="8823812"/>
            <a:ext cx="17530355" cy="37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950" dirty="0">
                <a:solidFill>
                  <a:srgbClr val="18324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A method can succeed because it matches one dataset's structure — not because it is universally best.</a:t>
            </a:r>
            <a:endParaRPr lang="en-US" sz="1950" dirty="0">
              <a:latin typeface="Avenir Next LT Pro Demi" panose="020B07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0AF10E8-1962-DA55-4B33-F8512206F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8A973BE1-3B82-44F5-A511-723649477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C263576-A6DA-8954-1E18-A761AD4AB687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5FC734-D21E-5EEE-0897-17EA7083D7F1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4171C3-D299-F4E8-50B5-E7EAC90DF06F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28C7E4D-9D7D-E732-D058-1FF85A55471A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F7F30F3-FBA5-11E7-9FAB-A10388E2843C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AC9CCCA-D4B0-A002-1B35-0399ECA737C4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FFD1B3-CDED-962D-B6BC-030F513CC47B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A8B333B-7497-8F97-EFE7-FA353DE24EE0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7D279EC-FFA7-669E-95F7-7911D384492C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C2878D4-802C-8E65-C5A0-E317E92F6CAD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1B6CABA-7262-D3D4-B02A-7BA91E64E98F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BF3D-DA6D-F5AA-5E8B-0A7BBC11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FAA0E1-C47D-C805-383F-01590913048C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8" name="Text 84">
            <a:extLst>
              <a:ext uri="{FF2B5EF4-FFF2-40B4-BE49-F238E27FC236}">
                <a16:creationId xmlns:a16="http://schemas.microsoft.com/office/drawing/2014/main" id="{21955356-24F7-DFD6-B065-84B531D8E516}"/>
              </a:ext>
            </a:extLst>
          </p:cNvPr>
          <p:cNvSpPr/>
          <p:nvPr/>
        </p:nvSpPr>
        <p:spPr>
          <a:xfrm>
            <a:off x="857250" y="6330812"/>
            <a:ext cx="17070706" cy="3459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2500"/>
              </a:lnSpc>
            </a:pPr>
            <a:endParaRPr lang="en-US" sz="2800" dirty="0">
              <a:solidFill>
                <a:srgbClr val="1620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94EB670-2623-8D01-A41A-86D59C02E7C6}"/>
              </a:ext>
            </a:extLst>
          </p:cNvPr>
          <p:cNvSpPr/>
          <p:nvPr/>
        </p:nvSpPr>
        <p:spPr>
          <a:xfrm>
            <a:off x="25899992" y="3890469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E63942-1B7A-4B8E-AA6F-3A2F8A3B4E0F}"/>
              </a:ext>
            </a:extLst>
          </p:cNvPr>
          <p:cNvSpPr/>
          <p:nvPr/>
        </p:nvSpPr>
        <p:spPr>
          <a:xfrm>
            <a:off x="26237962" y="4228439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E184AAD-998D-E2A7-417D-FCAE79F07EAD}"/>
              </a:ext>
            </a:extLst>
          </p:cNvPr>
          <p:cNvSpPr/>
          <p:nvPr/>
        </p:nvSpPr>
        <p:spPr>
          <a:xfrm>
            <a:off x="26455228" y="4445706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AC3850C-5971-8528-0EB0-05F326AB7E55}"/>
              </a:ext>
            </a:extLst>
          </p:cNvPr>
          <p:cNvSpPr/>
          <p:nvPr/>
        </p:nvSpPr>
        <p:spPr>
          <a:xfrm>
            <a:off x="25042072" y="4518128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CBA2E4F-4EBE-B583-E32E-639E24EA1EAF}"/>
              </a:ext>
            </a:extLst>
          </p:cNvPr>
          <p:cNvSpPr/>
          <p:nvPr/>
        </p:nvSpPr>
        <p:spPr>
          <a:xfrm>
            <a:off x="23953059" y="13252761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D544ED2-9041-09BA-9939-1975474DEAAD}"/>
              </a:ext>
            </a:extLst>
          </p:cNvPr>
          <p:cNvSpPr/>
          <p:nvPr/>
        </p:nvSpPr>
        <p:spPr>
          <a:xfrm>
            <a:off x="23861325" y="103472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9D915D3-DDA1-1168-2AB3-67E8AA367824}"/>
              </a:ext>
            </a:extLst>
          </p:cNvPr>
          <p:cNvSpPr/>
          <p:nvPr/>
        </p:nvSpPr>
        <p:spPr>
          <a:xfrm>
            <a:off x="21273500" y="-2298226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80C26F0-B01F-A3B8-6219-65AE370DF332}"/>
              </a:ext>
            </a:extLst>
          </p:cNvPr>
          <p:cNvSpPr/>
          <p:nvPr/>
        </p:nvSpPr>
        <p:spPr>
          <a:xfrm>
            <a:off x="20895475" y="13416918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B89513E-3CFB-8586-632F-1F7867AC103A}"/>
              </a:ext>
            </a:extLst>
          </p:cNvPr>
          <p:cNvSpPr/>
          <p:nvPr/>
        </p:nvSpPr>
        <p:spPr>
          <a:xfrm>
            <a:off x="24170932" y="7751722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ACFF15AB-2D15-5602-25DD-E8B96B2B7590}"/>
              </a:ext>
            </a:extLst>
          </p:cNvPr>
          <p:cNvSpPr/>
          <p:nvPr/>
        </p:nvSpPr>
        <p:spPr>
          <a:xfrm>
            <a:off x="23742816" y="11204464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793367A-06FE-E406-48E3-226E6F2E76F4}"/>
              </a:ext>
            </a:extLst>
          </p:cNvPr>
          <p:cNvSpPr/>
          <p:nvPr/>
        </p:nvSpPr>
        <p:spPr>
          <a:xfrm>
            <a:off x="19322384" y="-169534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2C4AE1-FFF2-7CF8-E021-ED65C258CB4C}"/>
              </a:ext>
            </a:extLst>
          </p:cNvPr>
          <p:cNvSpPr/>
          <p:nvPr/>
        </p:nvSpPr>
        <p:spPr>
          <a:xfrm>
            <a:off x="857250" y="3762704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D3D8BBB-4CA8-DF70-422E-49F3B762124B}"/>
              </a:ext>
            </a:extLst>
          </p:cNvPr>
          <p:cNvSpPr/>
          <p:nvPr/>
        </p:nvSpPr>
        <p:spPr>
          <a:xfrm>
            <a:off x="1110344" y="4015796"/>
            <a:ext cx="3675970" cy="210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2D489E5-3928-D10E-39B8-491429EF6F79}"/>
              </a:ext>
            </a:extLst>
          </p:cNvPr>
          <p:cNvSpPr/>
          <p:nvPr/>
        </p:nvSpPr>
        <p:spPr>
          <a:xfrm>
            <a:off x="1262743" y="3936311"/>
            <a:ext cx="3544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Raw Telemetry </a:t>
            </a:r>
            <a:r>
              <a:rPr lang="en-US" sz="14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(Agent Ingested)</a:t>
            </a:r>
            <a:endParaRPr lang="en-US" sz="1800" b="1" dirty="0">
              <a:latin typeface="Avenir Next LT Pro" panose="020B0504020202020204" pitchFamily="34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02614F6-86CD-6B72-941E-416F9CC0D1DD}"/>
              </a:ext>
            </a:extLst>
          </p:cNvPr>
          <p:cNvSpPr/>
          <p:nvPr/>
        </p:nvSpPr>
        <p:spPr>
          <a:xfrm>
            <a:off x="857248" y="4082378"/>
            <a:ext cx="3929065" cy="1162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9189"/>
              </a:lnSpc>
              <a:buNone/>
            </a:pPr>
            <a:r>
              <a:rPr lang="en-US" sz="1600" dirty="0">
                <a:solidFill>
                  <a:srgbClr val="5F6B76"/>
                </a:solidFill>
                <a:latin typeface="Avenir Next LT Pro Demi" panose="020F0502020204030204" pitchFamily="34" charset="0"/>
                <a:ea typeface="Arial" pitchFamily="34" charset="-122"/>
                <a:cs typeface="Arial" panose="020B0604020202020204" pitchFamily="34" charset="0"/>
              </a:rPr>
              <a:t>The system starts with the columns &amp; relationships available in a dataset</a:t>
            </a:r>
            <a:endParaRPr lang="en-US" sz="1600" dirty="0"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FC7A4E7-6BE3-399B-09DD-84C8ECCCD271}"/>
              </a:ext>
            </a:extLst>
          </p:cNvPr>
          <p:cNvSpPr/>
          <p:nvPr/>
        </p:nvSpPr>
        <p:spPr>
          <a:xfrm>
            <a:off x="5072063" y="3762704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5DFB3B8-BE6B-E48A-7475-40CE320FB9B6}"/>
              </a:ext>
            </a:extLst>
          </p:cNvPr>
          <p:cNvSpPr/>
          <p:nvPr/>
        </p:nvSpPr>
        <p:spPr>
          <a:xfrm>
            <a:off x="5325156" y="3994776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5E9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2B84950F-F9B4-BA41-2915-506B7E5AD79C}"/>
              </a:ext>
            </a:extLst>
          </p:cNvPr>
          <p:cNvSpPr/>
          <p:nvPr/>
        </p:nvSpPr>
        <p:spPr>
          <a:xfrm>
            <a:off x="5060736" y="3924580"/>
            <a:ext cx="39929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Fixed Review Units</a:t>
            </a: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F78511F6-9E11-C0D2-2364-A8CCEC65F95F}"/>
              </a:ext>
            </a:extLst>
          </p:cNvPr>
          <p:cNvSpPr/>
          <p:nvPr/>
        </p:nvSpPr>
        <p:spPr>
          <a:xfrm>
            <a:off x="5286534" y="4082379"/>
            <a:ext cx="3500114" cy="11628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lnSpc>
                <a:spcPct val="119189"/>
              </a:lnSpc>
            </a:pPr>
            <a:r>
              <a:rPr lang="en-CA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Deterministic code creates the same fixed review units for every method</a:t>
            </a:r>
            <a:endParaRPr lang="en-US" sz="1600" dirty="0">
              <a:solidFill>
                <a:srgbClr val="5F6B76"/>
              </a:solidFill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435099F3-DC1D-84E8-645B-89FDEA72164E}"/>
              </a:ext>
            </a:extLst>
          </p:cNvPr>
          <p:cNvSpPr/>
          <p:nvPr/>
        </p:nvSpPr>
        <p:spPr>
          <a:xfrm>
            <a:off x="9286876" y="3762704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9BAE7C4-BC1E-58B0-2E92-EE087D13D530}"/>
              </a:ext>
            </a:extLst>
          </p:cNvPr>
          <p:cNvSpPr/>
          <p:nvPr/>
        </p:nvSpPr>
        <p:spPr>
          <a:xfrm>
            <a:off x="9545365" y="4003832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397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6E96B817-1249-B6CE-A8B5-02309C29E250}"/>
              </a:ext>
            </a:extLst>
          </p:cNvPr>
          <p:cNvSpPr/>
          <p:nvPr/>
        </p:nvSpPr>
        <p:spPr>
          <a:xfrm>
            <a:off x="9520501" y="4296534"/>
            <a:ext cx="3414012" cy="993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lnSpc>
                <a:spcPct val="119189"/>
              </a:lnSpc>
            </a:pPr>
            <a:r>
              <a:rPr lang="en-CA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Review units are connected to the entities they </a:t>
            </a:r>
            <a:r>
              <a:rPr lang="en-CA" sz="1600" b="1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interacted</a:t>
            </a:r>
            <a:r>
              <a:rPr lang="en-CA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 with</a:t>
            </a:r>
            <a:br>
              <a:rPr lang="en-CA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</a:br>
            <a:endParaRPr lang="en-US" sz="1600" dirty="0">
              <a:solidFill>
                <a:srgbClr val="5F6B76"/>
              </a:solidFill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C3C6DCCE-2B52-FF0B-F100-9DA8763F5301}"/>
              </a:ext>
            </a:extLst>
          </p:cNvPr>
          <p:cNvSpPr/>
          <p:nvPr/>
        </p:nvSpPr>
        <p:spPr>
          <a:xfrm>
            <a:off x="13501689" y="3762704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48044488-70B7-ECA1-A732-DA6660E20BB9}"/>
              </a:ext>
            </a:extLst>
          </p:cNvPr>
          <p:cNvSpPr/>
          <p:nvPr/>
        </p:nvSpPr>
        <p:spPr>
          <a:xfrm>
            <a:off x="13754781" y="4026306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C78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55FD794-BB7A-AC9A-4DD9-978C101A5506}"/>
              </a:ext>
            </a:extLst>
          </p:cNvPr>
          <p:cNvSpPr/>
          <p:nvPr/>
        </p:nvSpPr>
        <p:spPr>
          <a:xfrm>
            <a:off x="13501689" y="3955364"/>
            <a:ext cx="3929063" cy="323850"/>
          </a:xfrm>
          <a:prstGeom prst="rect">
            <a:avLst/>
          </a:prstGeom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Represent Behavior</a:t>
            </a:r>
            <a:endParaRPr lang="en-US" sz="1800" b="1" dirty="0">
              <a:latin typeface="Avenir Next LT Pro" panose="020B0504020202020204" pitchFamily="34" charset="0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0A983D0B-D76B-B822-C440-B5E5187661F7}"/>
              </a:ext>
            </a:extLst>
          </p:cNvPr>
          <p:cNvSpPr/>
          <p:nvPr/>
        </p:nvSpPr>
        <p:spPr>
          <a:xfrm>
            <a:off x="13520836" y="4372462"/>
            <a:ext cx="3890766" cy="78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 algn="ctr">
              <a:lnSpc>
                <a:spcPct val="119189"/>
              </a:lnSpc>
              <a:buNone/>
            </a:pPr>
            <a:r>
              <a:rPr lang="en-US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Five ways to describe the same review units. Each one runs on its own.</a:t>
            </a:r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D95BF061-62D1-5857-B9EE-DA7F36140E4C}"/>
              </a:ext>
            </a:extLst>
          </p:cNvPr>
          <p:cNvSpPr/>
          <p:nvPr/>
        </p:nvSpPr>
        <p:spPr>
          <a:xfrm>
            <a:off x="857250" y="5809461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CBACF44A-B005-15DE-BBCB-55D6A0C54D3C}"/>
              </a:ext>
            </a:extLst>
          </p:cNvPr>
          <p:cNvSpPr/>
          <p:nvPr/>
        </p:nvSpPr>
        <p:spPr>
          <a:xfrm>
            <a:off x="1110343" y="6073063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7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D402D908-5A4C-4DEE-AE96-21B1E98145AC}"/>
              </a:ext>
            </a:extLst>
          </p:cNvPr>
          <p:cNvSpPr/>
          <p:nvPr/>
        </p:nvSpPr>
        <p:spPr>
          <a:xfrm>
            <a:off x="857251" y="5999897"/>
            <a:ext cx="3929062" cy="323850"/>
          </a:xfrm>
          <a:prstGeom prst="rect">
            <a:avLst/>
          </a:prstGeom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Produce Triage Scores</a:t>
            </a:r>
            <a:endParaRPr lang="en-US" sz="1800" b="1" dirty="0">
              <a:latin typeface="Avenir Next LT Pro" panose="020B0504020202020204" pitchFamily="34" charset="0"/>
            </a:endParaRPr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CB76E97A-EC72-43C3-6B36-E38303979862}"/>
              </a:ext>
            </a:extLst>
          </p:cNvPr>
          <p:cNvSpPr/>
          <p:nvPr/>
        </p:nvSpPr>
        <p:spPr>
          <a:xfrm>
            <a:off x="906991" y="6355277"/>
            <a:ext cx="3829580" cy="97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 algn="ctr">
              <a:lnSpc>
                <a:spcPct val="139189"/>
              </a:lnSpc>
              <a:buNone/>
            </a:pPr>
            <a:r>
              <a:rPr lang="en-US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Each scorer produces one priority score for each review unit. </a:t>
            </a:r>
            <a:r>
              <a:rPr lang="en-US" sz="1600" b="1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No labels used.</a:t>
            </a:r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C8D70523-F112-73C2-0C8F-BEA05658ED14}"/>
              </a:ext>
            </a:extLst>
          </p:cNvPr>
          <p:cNvSpPr/>
          <p:nvPr/>
        </p:nvSpPr>
        <p:spPr>
          <a:xfrm>
            <a:off x="5072063" y="5809461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329FDCA4-F50F-EE26-9063-894F63F65922}"/>
              </a:ext>
            </a:extLst>
          </p:cNvPr>
          <p:cNvSpPr/>
          <p:nvPr/>
        </p:nvSpPr>
        <p:spPr>
          <a:xfrm>
            <a:off x="5325156" y="6062553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397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D1F883A3-711E-E014-16BE-00D499E62FF5}"/>
              </a:ext>
            </a:extLst>
          </p:cNvPr>
          <p:cNvSpPr/>
          <p:nvPr/>
        </p:nvSpPr>
        <p:spPr>
          <a:xfrm>
            <a:off x="5456288" y="5990607"/>
            <a:ext cx="3544838" cy="323850"/>
          </a:xfrm>
          <a:prstGeom prst="rect">
            <a:avLst/>
          </a:prstGeom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65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Ranked Analyst Review Queue</a:t>
            </a:r>
            <a:endParaRPr lang="en-US" sz="1650" b="1" dirty="0">
              <a:latin typeface="Avenir Next LT Pro" panose="020B0504020202020204" pitchFamily="34" charset="0"/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65EFB81C-082D-3D37-AD55-0481D4779760}"/>
              </a:ext>
            </a:extLst>
          </p:cNvPr>
          <p:cNvSpPr/>
          <p:nvPr/>
        </p:nvSpPr>
        <p:spPr>
          <a:xfrm>
            <a:off x="5285300" y="6335476"/>
            <a:ext cx="3501348" cy="96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 algn="ctr">
              <a:lnSpc>
                <a:spcPct val="139189"/>
              </a:lnSpc>
              <a:buNone/>
            </a:pPr>
            <a:r>
              <a:rPr lang="en-US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Sort the scores from highest to lowest to create the </a:t>
            </a:r>
            <a:r>
              <a:rPr lang="en-US" sz="1600" b="1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review queue</a:t>
            </a:r>
          </a:p>
        </p:txBody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20D83A8B-8E44-AEE0-FFB3-1E481230B5D0}"/>
              </a:ext>
            </a:extLst>
          </p:cNvPr>
          <p:cNvSpPr/>
          <p:nvPr/>
        </p:nvSpPr>
        <p:spPr>
          <a:xfrm>
            <a:off x="9286876" y="5798951"/>
            <a:ext cx="3929063" cy="1491853"/>
          </a:xfrm>
          <a:prstGeom prst="roundRect">
            <a:avLst>
              <a:gd name="adj" fmla="val 7662"/>
            </a:avLst>
          </a:prstGeom>
          <a:solidFill>
            <a:srgbClr val="F7FAFD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solidFill>
                <a:srgbClr val="F7FAFD"/>
              </a:solidFill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336A1167-4F3A-3554-BA42-FF6BCF41DF35}"/>
              </a:ext>
            </a:extLst>
          </p:cNvPr>
          <p:cNvSpPr/>
          <p:nvPr/>
        </p:nvSpPr>
        <p:spPr>
          <a:xfrm>
            <a:off x="9539968" y="6062553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1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FB728651-4B6D-A73F-62F9-27C2DA7B77A9}"/>
              </a:ext>
            </a:extLst>
          </p:cNvPr>
          <p:cNvSpPr/>
          <p:nvPr/>
        </p:nvSpPr>
        <p:spPr>
          <a:xfrm>
            <a:off x="9286876" y="5991347"/>
            <a:ext cx="3929063" cy="323850"/>
          </a:xfrm>
          <a:prstGeom prst="rect">
            <a:avLst/>
          </a:prstGeom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Evaluate The Queue</a:t>
            </a:r>
            <a:endParaRPr lang="en-US" sz="1800" b="1" dirty="0">
              <a:latin typeface="Avenir Next LT Pro" panose="020B0504020202020204" pitchFamily="34" charset="0"/>
            </a:endParaRPr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3D756C08-6224-A183-966B-37B0E919DB57}"/>
              </a:ext>
            </a:extLst>
          </p:cNvPr>
          <p:cNvSpPr/>
          <p:nvPr/>
        </p:nvSpPr>
        <p:spPr>
          <a:xfrm>
            <a:off x="9581906" y="6064220"/>
            <a:ext cx="3422580" cy="1224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lnSpc>
                <a:spcPct val="119189"/>
              </a:lnSpc>
            </a:pPr>
            <a:r>
              <a:rPr lang="pt-BR" sz="1600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Compare the methods against </a:t>
            </a:r>
            <a:r>
              <a:rPr lang="pt-BR" sz="1600" b="1" dirty="0">
                <a:solidFill>
                  <a:srgbClr val="5F6B76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controls &amp; evaluation metrics</a:t>
            </a:r>
            <a:endParaRPr lang="en-US" sz="1600" b="1" dirty="0">
              <a:solidFill>
                <a:srgbClr val="5F6B76"/>
              </a:solidFill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32">
            <a:extLst>
              <a:ext uri="{FF2B5EF4-FFF2-40B4-BE49-F238E27FC236}">
                <a16:creationId xmlns:a16="http://schemas.microsoft.com/office/drawing/2014/main" id="{7A413B28-1AEB-9536-62B7-B260FD9B1354}"/>
              </a:ext>
            </a:extLst>
          </p:cNvPr>
          <p:cNvSpPr/>
          <p:nvPr/>
        </p:nvSpPr>
        <p:spPr>
          <a:xfrm>
            <a:off x="13501689" y="5809462"/>
            <a:ext cx="3929063" cy="2712504"/>
          </a:xfrm>
          <a:prstGeom prst="roundRect">
            <a:avLst>
              <a:gd name="adj" fmla="val 7662"/>
            </a:avLst>
          </a:prstGeom>
          <a:solidFill>
            <a:srgbClr val="18324A"/>
          </a:solidFill>
          <a:ln w="5443">
            <a:solidFill>
              <a:srgbClr val="18324A"/>
            </a:solidFill>
            <a:prstDash val="solid"/>
          </a:ln>
          <a:effectLst>
            <a:outerShdw blurRad="190500" dist="57150" dir="5400000" algn="bl" rotWithShape="0">
              <a:srgbClr val="16202A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00506C37-4973-2DD8-CF4B-5FB5C8661808}"/>
              </a:ext>
            </a:extLst>
          </p:cNvPr>
          <p:cNvSpPr/>
          <p:nvPr/>
        </p:nvSpPr>
        <p:spPr>
          <a:xfrm>
            <a:off x="13754781" y="6062553"/>
            <a:ext cx="3765165" cy="212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8FB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8889AFD7-6D70-8DE7-5F16-015FBD414408}"/>
              </a:ext>
            </a:extLst>
          </p:cNvPr>
          <p:cNvSpPr/>
          <p:nvPr/>
        </p:nvSpPr>
        <p:spPr>
          <a:xfrm>
            <a:off x="13495567" y="6000805"/>
            <a:ext cx="39197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9375"/>
              </a:lnSpc>
              <a:buNone/>
            </a:pP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800" b="1" dirty="0">
              <a:solidFill>
                <a:schemeClr val="accent4">
                  <a:lumMod val="75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7AC27661-5A97-6BE6-F05C-C2D519349986}"/>
              </a:ext>
            </a:extLst>
          </p:cNvPr>
          <p:cNvSpPr/>
          <p:nvPr/>
        </p:nvSpPr>
        <p:spPr>
          <a:xfrm>
            <a:off x="14503157" y="6580382"/>
            <a:ext cx="1856185" cy="449036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 w="5443">
            <a:solidFill>
              <a:srgbClr val="4D8B6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7DB8512D-F277-3542-7266-CE5D234B7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18150" y="6709650"/>
            <a:ext cx="190500" cy="190500"/>
          </a:xfrm>
          <a:prstGeom prst="rect">
            <a:avLst/>
          </a:prstGeom>
        </p:spPr>
      </p:pic>
      <p:sp>
        <p:nvSpPr>
          <p:cNvPr id="77" name="Text 37">
            <a:extLst>
              <a:ext uri="{FF2B5EF4-FFF2-40B4-BE49-F238E27FC236}">
                <a16:creationId xmlns:a16="http://schemas.microsoft.com/office/drawing/2014/main" id="{E4791C88-FC93-833B-5117-826F009C27F2}"/>
              </a:ext>
            </a:extLst>
          </p:cNvPr>
          <p:cNvSpPr/>
          <p:nvPr/>
        </p:nvSpPr>
        <p:spPr>
          <a:xfrm>
            <a:off x="15003900" y="6690600"/>
            <a:ext cx="1216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F6249"/>
                </a:solidFill>
                <a:latin typeface="Avenir Next LT Pro Demi" panose="020F0502020204030204" pitchFamily="34" charset="0"/>
                <a:ea typeface="Arial" pitchFamily="34" charset="-122"/>
                <a:cs typeface="Arial" panose="020B0604020202020204" pitchFamily="34" charset="0"/>
              </a:rPr>
              <a:t>Recommend</a:t>
            </a:r>
            <a:endParaRPr lang="en-US" sz="1500" dirty="0"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7C478AF1-0260-44F8-33A7-75A9E5D8666A}"/>
              </a:ext>
            </a:extLst>
          </p:cNvPr>
          <p:cNvSpPr/>
          <p:nvPr/>
        </p:nvSpPr>
        <p:spPr>
          <a:xfrm>
            <a:off x="13959871" y="7233410"/>
            <a:ext cx="1399495" cy="449036"/>
          </a:xfrm>
          <a:prstGeom prst="roundRect">
            <a:avLst>
              <a:gd name="adj" fmla="val 50000"/>
            </a:avLst>
          </a:prstGeom>
          <a:solidFill>
            <a:srgbClr val="FBF2E3"/>
          </a:solidFill>
          <a:ln w="5443">
            <a:solidFill>
              <a:srgbClr val="C78A3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1" name="Image 1" descr="preencoded.png">
            <a:extLst>
              <a:ext uri="{FF2B5EF4-FFF2-40B4-BE49-F238E27FC236}">
                <a16:creationId xmlns:a16="http://schemas.microsoft.com/office/drawing/2014/main" id="{85C95194-E522-A5B9-E915-14AB2D940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74864" y="7362678"/>
            <a:ext cx="190500" cy="190500"/>
          </a:xfrm>
          <a:prstGeom prst="rect">
            <a:avLst/>
          </a:prstGeom>
        </p:spPr>
      </p:pic>
      <p:sp>
        <p:nvSpPr>
          <p:cNvPr id="83" name="Text 39">
            <a:extLst>
              <a:ext uri="{FF2B5EF4-FFF2-40B4-BE49-F238E27FC236}">
                <a16:creationId xmlns:a16="http://schemas.microsoft.com/office/drawing/2014/main" id="{9517C228-7774-8A84-5065-C6AA2C3FAC2F}"/>
              </a:ext>
            </a:extLst>
          </p:cNvPr>
          <p:cNvSpPr/>
          <p:nvPr/>
        </p:nvSpPr>
        <p:spPr>
          <a:xfrm>
            <a:off x="14460614" y="7343628"/>
            <a:ext cx="7599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8A5E17"/>
                </a:solidFill>
                <a:latin typeface="Avenir Next LT Pro Demi" panose="020F0502020204030204" pitchFamily="34" charset="0"/>
                <a:ea typeface="Arial" pitchFamily="34" charset="-122"/>
                <a:cs typeface="Arial" panose="020B0604020202020204" pitchFamily="34" charset="0"/>
              </a:rPr>
              <a:t>Explore</a:t>
            </a:r>
            <a:endParaRPr lang="en-US" sz="1500" dirty="0"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40">
            <a:extLst>
              <a:ext uri="{FF2B5EF4-FFF2-40B4-BE49-F238E27FC236}">
                <a16:creationId xmlns:a16="http://schemas.microsoft.com/office/drawing/2014/main" id="{8726421A-D17F-5015-36CE-C15AA22087C5}"/>
              </a:ext>
            </a:extLst>
          </p:cNvPr>
          <p:cNvSpPr/>
          <p:nvPr/>
        </p:nvSpPr>
        <p:spPr>
          <a:xfrm>
            <a:off x="15568916" y="7233410"/>
            <a:ext cx="1407744" cy="4490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443">
            <a:solidFill>
              <a:srgbClr val="7B879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7" name="Image 2" descr="preencoded.png">
            <a:extLst>
              <a:ext uri="{FF2B5EF4-FFF2-40B4-BE49-F238E27FC236}">
                <a16:creationId xmlns:a16="http://schemas.microsoft.com/office/drawing/2014/main" id="{88BEF8C1-9789-D5FA-5E4A-D76A4A1CF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3909" y="7362678"/>
            <a:ext cx="190500" cy="190500"/>
          </a:xfrm>
          <a:prstGeom prst="rect">
            <a:avLst/>
          </a:prstGeom>
        </p:spPr>
      </p:pic>
      <p:sp>
        <p:nvSpPr>
          <p:cNvPr id="90" name="Text 41">
            <a:extLst>
              <a:ext uri="{FF2B5EF4-FFF2-40B4-BE49-F238E27FC236}">
                <a16:creationId xmlns:a16="http://schemas.microsoft.com/office/drawing/2014/main" id="{A5282ECA-56B1-FEF3-C740-5C426D0079AC}"/>
              </a:ext>
            </a:extLst>
          </p:cNvPr>
          <p:cNvSpPr/>
          <p:nvPr/>
        </p:nvSpPr>
        <p:spPr>
          <a:xfrm>
            <a:off x="16069659" y="7343628"/>
            <a:ext cx="7682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 Demi" panose="020F0502020204030204" pitchFamily="34" charset="0"/>
                <a:ea typeface="Arial" pitchFamily="34" charset="-122"/>
                <a:cs typeface="Arial" panose="020B0604020202020204" pitchFamily="34" charset="0"/>
              </a:rPr>
              <a:t>Abstain</a:t>
            </a:r>
            <a:endParaRPr lang="en-US" sz="1500" dirty="0"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C192D1E1-48CE-2844-B0FE-5886A8FAD213}"/>
              </a:ext>
            </a:extLst>
          </p:cNvPr>
          <p:cNvSpPr/>
          <p:nvPr/>
        </p:nvSpPr>
        <p:spPr>
          <a:xfrm>
            <a:off x="857251" y="7720414"/>
            <a:ext cx="5101590" cy="544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425" dirty="0">
                <a:solidFill>
                  <a:srgbClr val="7B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evaluate the queue. They do not create the ranking.</a:t>
            </a:r>
            <a:endParaRPr lang="en-US" sz="1425" dirty="0"/>
          </a:p>
        </p:txBody>
      </p:sp>
      <p:sp>
        <p:nvSpPr>
          <p:cNvPr id="98" name="Text 3">
            <a:extLst>
              <a:ext uri="{FF2B5EF4-FFF2-40B4-BE49-F238E27FC236}">
                <a16:creationId xmlns:a16="http://schemas.microsoft.com/office/drawing/2014/main" id="{56CB8918-1AB4-E4AF-A13A-BCF87AFFBC58}"/>
              </a:ext>
            </a:extLst>
          </p:cNvPr>
          <p:cNvSpPr/>
          <p:nvPr/>
        </p:nvSpPr>
        <p:spPr>
          <a:xfrm>
            <a:off x="857250" y="1703525"/>
            <a:ext cx="14668501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248"/>
              </a:lnSpc>
              <a:buNone/>
            </a:pPr>
            <a:r>
              <a:rPr lang="en-US" sz="885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MetaTriage</a:t>
            </a:r>
            <a:endParaRPr lang="en-US" sz="8850" b="1" dirty="0">
              <a:latin typeface="Avenir Next LT Pro" panose="020B0504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01BEF7-837D-9A23-EEE8-C5BA886F61EE}"/>
              </a:ext>
            </a:extLst>
          </p:cNvPr>
          <p:cNvSpPr/>
          <p:nvPr/>
        </p:nvSpPr>
        <p:spPr>
          <a:xfrm>
            <a:off x="7617815" y="1518338"/>
            <a:ext cx="1255317" cy="125531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5BAB50A-7F22-AEE0-0097-3DB47FBA5A26}"/>
              </a:ext>
            </a:extLst>
          </p:cNvPr>
          <p:cNvSpPr/>
          <p:nvPr/>
        </p:nvSpPr>
        <p:spPr>
          <a:xfrm>
            <a:off x="7955785" y="1856308"/>
            <a:ext cx="579377" cy="579377"/>
          </a:xfrm>
          <a:prstGeom prst="rect">
            <a:avLst/>
          </a:prstGeom>
          <a:noFill/>
          <a:ln w="101263" cap="flat">
            <a:solidFill>
              <a:srgbClr val="16202A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B79A73D-C43C-3C76-2B9C-8F406FA4667B}"/>
              </a:ext>
            </a:extLst>
          </p:cNvPr>
          <p:cNvSpPr/>
          <p:nvPr/>
        </p:nvSpPr>
        <p:spPr>
          <a:xfrm>
            <a:off x="8173051" y="2073575"/>
            <a:ext cx="144844" cy="144844"/>
          </a:xfrm>
          <a:prstGeom prst="rect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65595966-ADF5-881E-6378-08290CC77F07}"/>
              </a:ext>
            </a:extLst>
          </p:cNvPr>
          <p:cNvSpPr/>
          <p:nvPr/>
        </p:nvSpPr>
        <p:spPr>
          <a:xfrm>
            <a:off x="8969695" y="2145997"/>
            <a:ext cx="289688" cy="48281"/>
          </a:xfrm>
          <a:custGeom>
            <a:avLst/>
            <a:gdLst>
              <a:gd name="csX0" fmla="*/ 0 w 289688"/>
              <a:gd name="csY0" fmla="*/ 0 h 48281"/>
              <a:gd name="csX1" fmla="*/ 289689 w 289688"/>
              <a:gd name="csY1" fmla="*/ 0 h 48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9688" h="48281">
                <a:moveTo>
                  <a:pt x="0" y="0"/>
                </a:moveTo>
                <a:lnTo>
                  <a:pt x="289689" y="0"/>
                </a:lnTo>
              </a:path>
            </a:pathLst>
          </a:custGeom>
          <a:solidFill>
            <a:srgbClr val="000000"/>
          </a:solidFill>
          <a:ln w="86797" cap="rnd">
            <a:solidFill>
              <a:srgbClr val="8A9099"/>
            </a:solidFill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0DD5165-ADBE-FA91-EEFA-A31B2EE8FBCD}"/>
              </a:ext>
            </a:extLst>
          </p:cNvPr>
          <p:cNvSpPr/>
          <p:nvPr/>
        </p:nvSpPr>
        <p:spPr>
          <a:xfrm>
            <a:off x="9891871" y="2199107"/>
            <a:ext cx="280032" cy="280032"/>
          </a:xfrm>
          <a:prstGeom prst="ellipse">
            <a:avLst/>
          </a:prstGeom>
          <a:solidFill>
            <a:srgbClr val="B056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DEE7441-D415-3D9E-C2B5-FCF92E14B934}"/>
              </a:ext>
            </a:extLst>
          </p:cNvPr>
          <p:cNvSpPr/>
          <p:nvPr/>
        </p:nvSpPr>
        <p:spPr>
          <a:xfrm>
            <a:off x="9384916" y="1549677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43D4D4DE-1910-51C6-4C29-6FA09620E0FD}"/>
              </a:ext>
            </a:extLst>
          </p:cNvPr>
          <p:cNvSpPr/>
          <p:nvPr/>
        </p:nvSpPr>
        <p:spPr>
          <a:xfrm>
            <a:off x="9771168" y="130827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DB7DCC5-433B-1467-87E3-CCE598FADCFE}"/>
              </a:ext>
            </a:extLst>
          </p:cNvPr>
          <p:cNvSpPr/>
          <p:nvPr/>
        </p:nvSpPr>
        <p:spPr>
          <a:xfrm>
            <a:off x="9481479" y="2322180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D47DD5A-757A-B23C-F7A2-F95F7448D4D0}"/>
              </a:ext>
            </a:extLst>
          </p:cNvPr>
          <p:cNvSpPr/>
          <p:nvPr/>
        </p:nvSpPr>
        <p:spPr>
          <a:xfrm>
            <a:off x="10012575" y="1887647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38C2E24-F733-D3AD-32B7-C9A1E619AA0D}"/>
              </a:ext>
            </a:extLst>
          </p:cNvPr>
          <p:cNvSpPr/>
          <p:nvPr/>
        </p:nvSpPr>
        <p:spPr>
          <a:xfrm>
            <a:off x="9674605" y="2804995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B9D64B05-71B2-505F-0150-03C45619B354}"/>
              </a:ext>
            </a:extLst>
          </p:cNvPr>
          <p:cNvSpPr/>
          <p:nvPr/>
        </p:nvSpPr>
        <p:spPr>
          <a:xfrm>
            <a:off x="10109138" y="2611869"/>
            <a:ext cx="231750" cy="231750"/>
          </a:xfrm>
          <a:prstGeom prst="ellipse">
            <a:avLst/>
          </a:prstGeom>
          <a:solidFill>
            <a:srgbClr val="16202A"/>
          </a:solidFill>
          <a:ln w="48220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D9601E96-7777-0ED3-445F-836DAA979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6" name="Text 10">
            <a:extLst>
              <a:ext uri="{FF2B5EF4-FFF2-40B4-BE49-F238E27FC236}">
                <a16:creationId xmlns:a16="http://schemas.microsoft.com/office/drawing/2014/main" id="{52F4BED5-1A2B-21A1-1340-AADF7C1E2E7E}"/>
              </a:ext>
            </a:extLst>
          </p:cNvPr>
          <p:cNvSpPr/>
          <p:nvPr/>
        </p:nvSpPr>
        <p:spPr>
          <a:xfrm>
            <a:off x="9566384" y="3929926"/>
            <a:ext cx="37069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>
              <a:lnSpc>
                <a:spcPct val="109375"/>
              </a:lnSpc>
            </a:pPr>
            <a:r>
              <a:rPr lang="en-US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Typed Telemetry Relations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0CDB9F1A-1673-22F3-7B77-0F63F07C57C4}"/>
              </a:ext>
            </a:extLst>
          </p:cNvPr>
          <p:cNvSpPr/>
          <p:nvPr/>
        </p:nvSpPr>
        <p:spPr>
          <a:xfrm>
            <a:off x="13501689" y="7777337"/>
            <a:ext cx="3913658" cy="67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>
              <a:lnSpc>
                <a:spcPct val="119189"/>
              </a:lnSpc>
            </a:pPr>
            <a:r>
              <a:rPr lang="pt-BR" sz="1600" b="1" dirty="0">
                <a:solidFill>
                  <a:schemeClr val="bg1"/>
                </a:solidFill>
                <a:latin typeface="Avenir Next LT Pro Demi" panose="020F0502020204030204" pitchFamily="34" charset="0"/>
                <a:cs typeface="Arial" panose="020B0604020202020204" pitchFamily="34" charset="0"/>
              </a:rPr>
              <a:t>Record and report to the analyst</a:t>
            </a:r>
            <a:endParaRPr lang="en-US" sz="1600" b="1" dirty="0">
              <a:solidFill>
                <a:schemeClr val="bg1"/>
              </a:solidFill>
              <a:latin typeface="Avenir Next LT Pro Dem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8D45FE1A-950D-3ADE-446B-C8E43300A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65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1E5E-FF56-707E-25D8-8DDFDBC6A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33163C-6216-FCCA-7A1A-E58F41DF806B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9E6436-1431-65BD-3416-C4BF5E4D9440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9193CC6-0543-2E7E-A007-3EE6E7484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6FCA7F-F9F2-9A03-563F-F6089190D1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496"/>
          <a:stretch>
            <a:fillRect/>
          </a:stretch>
        </p:blipFill>
        <p:spPr>
          <a:xfrm>
            <a:off x="973455" y="1131760"/>
            <a:ext cx="2696845" cy="77628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1E6B7D-6082-BDF6-4234-BDB2E62C5B7D}"/>
              </a:ext>
            </a:extLst>
          </p:cNvPr>
          <p:cNvSpPr txBox="1"/>
          <p:nvPr/>
        </p:nvSpPr>
        <p:spPr>
          <a:xfrm>
            <a:off x="4610100" y="1107581"/>
            <a:ext cx="11849100" cy="7525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{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session_group_cols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["hostname",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user_name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"],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timestamp_col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process_started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</a:t>
            </a:r>
          </a:p>
          <a:p>
            <a:endParaRPr lang="en-CA" sz="2300" dirty="0">
              <a:solidFill>
                <a:srgbClr val="5F6B76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graph_relations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[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parent_of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"process → process" },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"executes":  "process → executable" },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runs_on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  "process → host" },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owned_by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 "process → user" }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],</a:t>
            </a:r>
          </a:p>
          <a:p>
            <a:endParaRPr lang="en-CA" sz="2300" dirty="0">
              <a:solidFill>
                <a:srgbClr val="5F6B76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feature_sets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[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compute_memory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["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cpu_cycle_count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commit_charge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commit_peak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"] },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io_registry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   ["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read_ops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write_ops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reg_reads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reg_writes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reg_createkeys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"] },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  { "network":        ["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tcp_connect_count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tcp_send_size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tcp_recv_size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",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net_total_events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"] }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],</a:t>
            </a:r>
          </a:p>
          <a:p>
            <a:endParaRPr lang="en-CA" sz="2300" dirty="0">
              <a:solidFill>
                <a:srgbClr val="5F6B76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 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label_col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": "</a:t>
            </a:r>
            <a:r>
              <a:rPr lang="en-CA" sz="2300" dirty="0" err="1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red_team</a:t>
            </a:r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"</a:t>
            </a:r>
          </a:p>
          <a:p>
            <a:r>
              <a:rPr lang="en-CA" sz="2300" dirty="0">
                <a:solidFill>
                  <a:srgbClr val="5F6B76"/>
                </a:solidFill>
                <a:latin typeface="Avenir Next LT Pro" panose="020B0504020202020204" pitchFamily="34" charset="0"/>
                <a:cs typeface="Arial" pitchFamily="34" charset="-120"/>
              </a:rPr>
              <a:t>}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A3D78A3-1229-3BEE-B6B0-DEE9C37C4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20" name="Shape 24">
            <a:extLst>
              <a:ext uri="{FF2B5EF4-FFF2-40B4-BE49-F238E27FC236}">
                <a16:creationId xmlns:a16="http://schemas.microsoft.com/office/drawing/2014/main" id="{63168AF5-C2DB-79AE-8345-A9D7E831CE2E}"/>
              </a:ext>
            </a:extLst>
          </p:cNvPr>
          <p:cNvSpPr/>
          <p:nvPr/>
        </p:nvSpPr>
        <p:spPr>
          <a:xfrm>
            <a:off x="4324350" y="8880914"/>
            <a:ext cx="12887325" cy="829611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CC746BF7-065D-2203-C391-070C69E2FA64}"/>
              </a:ext>
            </a:extLst>
          </p:cNvPr>
          <p:cNvSpPr/>
          <p:nvPr/>
        </p:nvSpPr>
        <p:spPr>
          <a:xfrm>
            <a:off x="4324350" y="8880914"/>
            <a:ext cx="27214" cy="829611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90420B6B-4678-B5A3-D4E6-1FB4397DEFC0}"/>
              </a:ext>
            </a:extLst>
          </p:cNvPr>
          <p:cNvSpPr/>
          <p:nvPr/>
        </p:nvSpPr>
        <p:spPr>
          <a:xfrm>
            <a:off x="4656364" y="9128564"/>
            <a:ext cx="17530355" cy="37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950" dirty="0">
                <a:solidFill>
                  <a:srgbClr val="18324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Proposed by the agent. Validated. Then applied deterministically to every row, identically for every method.</a:t>
            </a:r>
          </a:p>
        </p:txBody>
      </p:sp>
    </p:spTree>
    <p:extLst>
      <p:ext uri="{BB962C8B-B14F-4D97-AF65-F5344CB8AC3E}">
        <p14:creationId xmlns:p14="http://schemas.microsoft.com/office/powerpoint/2010/main" val="613620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9A88C-9F8E-7809-C3D9-52550FB1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BB293E-92E6-B3A2-605E-C3A61B34C462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4E31F4-CCE6-F0F4-8DE2-EE4AF064E328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THE METHODOLOGY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98CDF6-FF6B-DF8D-5B55-3E5BE295E7C8}"/>
              </a:ext>
            </a:extLst>
          </p:cNvPr>
          <p:cNvSpPr/>
          <p:nvPr/>
        </p:nvSpPr>
        <p:spPr>
          <a:xfrm>
            <a:off x="1047714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1655"/>
              </a:lnSpc>
            </a:pP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Canonical Review Units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2727B29-36FB-068F-5460-84BC98616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8" name="Text 16">
            <a:extLst>
              <a:ext uri="{FF2B5EF4-FFF2-40B4-BE49-F238E27FC236}">
                <a16:creationId xmlns:a16="http://schemas.microsoft.com/office/drawing/2014/main" id="{56882F0D-2197-5D79-3EA4-C4B67A612DE7}"/>
              </a:ext>
            </a:extLst>
          </p:cNvPr>
          <p:cNvSpPr/>
          <p:nvPr/>
        </p:nvSpPr>
        <p:spPr>
          <a:xfrm>
            <a:off x="1047714" y="2033575"/>
            <a:ext cx="13620719" cy="371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 real process-telemetry dataset, grouping, typed relations, and feature sets, before any model runs.</a:t>
            </a:r>
            <a:endParaRPr lang="en-US" sz="1950" dirty="0">
              <a:latin typeface="Avenir Next LT Pro" panose="020B0504020202020204" pitchFamily="34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2169301D-CDA9-DA77-17EC-8E3AA6787010}"/>
              </a:ext>
            </a:extLst>
          </p:cNvPr>
          <p:cNvSpPr/>
          <p:nvPr/>
        </p:nvSpPr>
        <p:spPr>
          <a:xfrm>
            <a:off x="1047714" y="2576104"/>
            <a:ext cx="8693702" cy="521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165" dirty="0">
                <a:solidFill>
                  <a:schemeClr val="tx2">
                    <a:lumMod val="50000"/>
                  </a:schemeClr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SESSION GROUPING</a:t>
            </a:r>
            <a:endParaRPr lang="en-US" sz="2400" b="1" dirty="0">
              <a:solidFill>
                <a:schemeClr val="tx2">
                  <a:lumMod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Shape 18">
            <a:extLst>
              <a:ext uri="{FF2B5EF4-FFF2-40B4-BE49-F238E27FC236}">
                <a16:creationId xmlns:a16="http://schemas.microsoft.com/office/drawing/2014/main" id="{3EAE8E80-F626-D277-67BB-50A08B21554C}"/>
              </a:ext>
            </a:extLst>
          </p:cNvPr>
          <p:cNvSpPr/>
          <p:nvPr/>
        </p:nvSpPr>
        <p:spPr>
          <a:xfrm>
            <a:off x="1047714" y="3097628"/>
            <a:ext cx="7903366" cy="1747624"/>
          </a:xfrm>
          <a:prstGeom prst="roundRect">
            <a:avLst>
              <a:gd name="adj" fmla="val 654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9C8A3EF2-4C0A-A508-A2D2-784D2745A0FF}"/>
              </a:ext>
            </a:extLst>
          </p:cNvPr>
          <p:cNvSpPr/>
          <p:nvPr/>
        </p:nvSpPr>
        <p:spPr>
          <a:xfrm>
            <a:off x="1264412" y="3257264"/>
            <a:ext cx="1013527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103B8BBA-6538-B6DA-5D1D-D7DE76A7BC9F}"/>
              </a:ext>
            </a:extLst>
          </p:cNvPr>
          <p:cNvSpPr/>
          <p:nvPr/>
        </p:nvSpPr>
        <p:spPr>
          <a:xfrm>
            <a:off x="7325957" y="3257264"/>
            <a:ext cx="1549267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process_started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7936306B-37AA-E12C-A6FE-80A3FF7F7F45}"/>
              </a:ext>
            </a:extLst>
          </p:cNvPr>
          <p:cNvSpPr/>
          <p:nvPr/>
        </p:nvSpPr>
        <p:spPr>
          <a:xfrm>
            <a:off x="1054960" y="3677753"/>
            <a:ext cx="7888874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DCA6FB30-6B2A-9F26-A6E6-E5352368A097}"/>
              </a:ext>
            </a:extLst>
          </p:cNvPr>
          <p:cNvSpPr/>
          <p:nvPr/>
        </p:nvSpPr>
        <p:spPr>
          <a:xfrm>
            <a:off x="1264412" y="3837390"/>
            <a:ext cx="1102968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grouped by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1FCAD9F9-00CE-F14C-E104-D1ABDB74981C}"/>
              </a:ext>
            </a:extLst>
          </p:cNvPr>
          <p:cNvSpPr/>
          <p:nvPr/>
        </p:nvSpPr>
        <p:spPr>
          <a:xfrm>
            <a:off x="6706771" y="3837390"/>
            <a:ext cx="2230371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hostname · user_name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1F4ACF4-D5A7-C604-8CEF-6EB7A2C92E51}"/>
              </a:ext>
            </a:extLst>
          </p:cNvPr>
          <p:cNvSpPr/>
          <p:nvPr/>
        </p:nvSpPr>
        <p:spPr>
          <a:xfrm>
            <a:off x="1054960" y="4257879"/>
            <a:ext cx="7888874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D1AB305B-8CB7-49FA-B362-5E794BFA074A}"/>
              </a:ext>
            </a:extLst>
          </p:cNvPr>
          <p:cNvSpPr/>
          <p:nvPr/>
        </p:nvSpPr>
        <p:spPr>
          <a:xfrm>
            <a:off x="1264412" y="4417516"/>
            <a:ext cx="497029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1858CEC-CC13-B9C4-6DA0-1EE9D2E3DAE4}"/>
              </a:ext>
            </a:extLst>
          </p:cNvPr>
          <p:cNvSpPr/>
          <p:nvPr/>
        </p:nvSpPr>
        <p:spPr>
          <a:xfrm>
            <a:off x="7564167" y="4417516"/>
            <a:ext cx="1246415" cy="30619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red_team = 1</a:t>
            </a:r>
            <a:endParaRPr lang="en-US" sz="1575" dirty="0">
              <a:latin typeface="Avenir Next LT Pro" panose="020B0504020202020204" pitchFamily="34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B227DFF-3462-72C8-72C6-218F187C21F1}"/>
              </a:ext>
            </a:extLst>
          </p:cNvPr>
          <p:cNvSpPr/>
          <p:nvPr/>
        </p:nvSpPr>
        <p:spPr>
          <a:xfrm>
            <a:off x="1047714" y="5518725"/>
            <a:ext cx="8693702" cy="75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kern="0" spc="165" dirty="0">
                <a:solidFill>
                  <a:schemeClr val="tx2">
                    <a:lumMod val="50000"/>
                  </a:schemeClr>
                </a:solidFill>
                <a:latin typeface="Avenir Next LT Pro" panose="020B0504020202020204" pitchFamily="34" charset="0"/>
                <a:cs typeface="Arial" pitchFamily="34" charset="-120"/>
              </a:rPr>
              <a:t>TYPED RELATIONS</a:t>
            </a:r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A7686FAB-4EB2-14BE-E729-0282FE173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0047" y="5998820"/>
            <a:ext cx="7180229" cy="3759297"/>
          </a:xfrm>
          <a:prstGeom prst="rect">
            <a:avLst/>
          </a:prstGeom>
        </p:spPr>
      </p:pic>
      <p:sp>
        <p:nvSpPr>
          <p:cNvPr id="36" name="Text 29">
            <a:extLst>
              <a:ext uri="{FF2B5EF4-FFF2-40B4-BE49-F238E27FC236}">
                <a16:creationId xmlns:a16="http://schemas.microsoft.com/office/drawing/2014/main" id="{11E4036A-0859-D433-0AA8-2FAF6EF2DFCF}"/>
              </a:ext>
            </a:extLst>
          </p:cNvPr>
          <p:cNvSpPr/>
          <p:nvPr/>
        </p:nvSpPr>
        <p:spPr>
          <a:xfrm>
            <a:off x="9713033" y="3100579"/>
            <a:ext cx="8279734" cy="465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kern="0" spc="165" dirty="0">
                <a:solidFill>
                  <a:schemeClr val="tx2">
                    <a:lumMod val="50000"/>
                  </a:schemeClr>
                </a:solidFill>
                <a:latin typeface="Avenir Next LT Pro" panose="020B0504020202020204" pitchFamily="34" charset="0"/>
                <a:cs typeface="Arial" pitchFamily="34" charset="-120"/>
              </a:rPr>
              <a:t>FEATURE SETS</a:t>
            </a:r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5A5F0C39-D36F-E5BF-1FF7-F72F062A7C72}"/>
              </a:ext>
            </a:extLst>
          </p:cNvPr>
          <p:cNvSpPr/>
          <p:nvPr/>
        </p:nvSpPr>
        <p:spPr>
          <a:xfrm>
            <a:off x="9713033" y="3795128"/>
            <a:ext cx="7527031" cy="989294"/>
          </a:xfrm>
          <a:prstGeom prst="roundRect">
            <a:avLst>
              <a:gd name="adj" fmla="val 11554"/>
            </a:avLst>
          </a:prstGeom>
          <a:solidFill>
            <a:schemeClr val="tx2">
              <a:lumMod val="20000"/>
              <a:lumOff val="80000"/>
            </a:schemeClr>
          </a:solidFill>
          <a:ln w="7246">
            <a:solidFill>
              <a:srgbClr val="DCE2E8"/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DB5CB52B-E96F-B02F-EE93-9131EBB4A215}"/>
              </a:ext>
            </a:extLst>
          </p:cNvPr>
          <p:cNvSpPr/>
          <p:nvPr/>
        </p:nvSpPr>
        <p:spPr>
          <a:xfrm>
            <a:off x="9948865" y="3992805"/>
            <a:ext cx="7760904" cy="2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Computational &amp; memory footprint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3D274D7F-B3AC-1FEE-F39A-607247214CE9}"/>
              </a:ext>
            </a:extLst>
          </p:cNvPr>
          <p:cNvSpPr/>
          <p:nvPr/>
        </p:nvSpPr>
        <p:spPr>
          <a:xfrm>
            <a:off x="9948865" y="4315361"/>
            <a:ext cx="7760904" cy="30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4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CPU cycles · commit charge · commit peak — unusual intensity or memory demand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7F9C80DD-6F86-D5C6-0DCB-89CA81CDAC03}"/>
              </a:ext>
            </a:extLst>
          </p:cNvPr>
          <p:cNvSpPr/>
          <p:nvPr/>
        </p:nvSpPr>
        <p:spPr>
          <a:xfrm>
            <a:off x="9713033" y="5279677"/>
            <a:ext cx="7527031" cy="1199614"/>
          </a:xfrm>
          <a:prstGeom prst="roundRect">
            <a:avLst>
              <a:gd name="adj" fmla="val 11554"/>
            </a:avLst>
          </a:prstGeom>
          <a:solidFill>
            <a:schemeClr val="tx2">
              <a:lumMod val="20000"/>
              <a:lumOff val="80000"/>
            </a:schemeClr>
          </a:solidFill>
          <a:ln w="7246">
            <a:solidFill>
              <a:srgbClr val="DCE2E8"/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CBC6E775-C7B1-3D99-79D6-2F800E675BA6}"/>
              </a:ext>
            </a:extLst>
          </p:cNvPr>
          <p:cNvSpPr/>
          <p:nvPr/>
        </p:nvSpPr>
        <p:spPr>
          <a:xfrm>
            <a:off x="9948865" y="5582515"/>
            <a:ext cx="7760904" cy="2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Local I/O &amp; registry change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F0E41B65-B55C-F7BE-27E8-EE6DE5EFB5CF}"/>
              </a:ext>
            </a:extLst>
          </p:cNvPr>
          <p:cNvSpPr/>
          <p:nvPr/>
        </p:nvSpPr>
        <p:spPr>
          <a:xfrm>
            <a:off x="9948865" y="5905071"/>
            <a:ext cx="7760904" cy="30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4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Read/write ops · registry reads, writes, key creation — access and modification behavior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5D83CC50-20BF-9DAD-B08C-7BE3ABB8148C}"/>
              </a:ext>
            </a:extLst>
          </p:cNvPr>
          <p:cNvSpPr/>
          <p:nvPr/>
        </p:nvSpPr>
        <p:spPr>
          <a:xfrm>
            <a:off x="9713033" y="6971252"/>
            <a:ext cx="7527031" cy="1260676"/>
          </a:xfrm>
          <a:prstGeom prst="roundRect">
            <a:avLst>
              <a:gd name="adj" fmla="val 9067"/>
            </a:avLst>
          </a:prstGeom>
          <a:solidFill>
            <a:schemeClr val="tx2">
              <a:lumMod val="20000"/>
              <a:lumOff val="80000"/>
            </a:schemeClr>
          </a:solidFill>
          <a:ln w="7246">
            <a:solidFill>
              <a:srgbClr val="DCE2E8"/>
            </a:solidFill>
            <a:prstDash val="solid"/>
          </a:ln>
          <a:effectLst>
            <a:outerShdw blurRad="76200" dist="19050" dir="5400000" algn="bl" rotWithShape="0">
              <a:srgbClr val="16202A">
                <a:alpha val="6000"/>
              </a:srgbClr>
            </a:outerShdw>
          </a:effectLst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F8BE087C-E102-D6E8-7F9F-34401647FB1D}"/>
              </a:ext>
            </a:extLst>
          </p:cNvPr>
          <p:cNvSpPr/>
          <p:nvPr/>
        </p:nvSpPr>
        <p:spPr>
          <a:xfrm>
            <a:off x="9948865" y="7168929"/>
            <a:ext cx="7760904" cy="284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Connection &amp; transfer profile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55" name="Text 38">
            <a:extLst>
              <a:ext uri="{FF2B5EF4-FFF2-40B4-BE49-F238E27FC236}">
                <a16:creationId xmlns:a16="http://schemas.microsoft.com/office/drawing/2014/main" id="{233AC5A3-9698-1E97-C025-BAF3E7B55570}"/>
              </a:ext>
            </a:extLst>
          </p:cNvPr>
          <p:cNvSpPr/>
          <p:nvPr/>
        </p:nvSpPr>
        <p:spPr>
          <a:xfrm>
            <a:off x="9948865" y="7491485"/>
            <a:ext cx="7267029" cy="580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187"/>
              </a:lnSpc>
              <a:buNone/>
            </a:pPr>
            <a:r>
              <a:rPr lang="en-US" sz="14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TCP connects · send/recv size · total network events — connection frequency and volume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BC098AF6-B658-81E1-4345-6013CC17F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66" name="Shape 25">
            <a:extLst>
              <a:ext uri="{FF2B5EF4-FFF2-40B4-BE49-F238E27FC236}">
                <a16:creationId xmlns:a16="http://schemas.microsoft.com/office/drawing/2014/main" id="{B82E0DAF-B255-D7F5-948A-8698BFAFAB03}"/>
              </a:ext>
            </a:extLst>
          </p:cNvPr>
          <p:cNvSpPr/>
          <p:nvPr/>
        </p:nvSpPr>
        <p:spPr>
          <a:xfrm>
            <a:off x="4324350" y="10724228"/>
            <a:ext cx="27214" cy="829611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373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55"/>
              </a:lnSpc>
              <a:buNone/>
            </a:pPr>
            <a:r>
              <a:rPr lang="en-US" sz="5250" b="1" kern="0" spc="-79" dirty="0">
                <a:solidFill>
                  <a:srgbClr val="16202A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Relationships in the Data Become a Typed Graph</a:t>
            </a:r>
            <a:endParaRPr lang="en-US" sz="5250" b="1" dirty="0">
              <a:latin typeface="Avenir Next LT Pro" panose="020B05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3030"/>
          <a:stretch>
            <a:fillRect/>
          </a:stretch>
        </p:blipFill>
        <p:spPr>
          <a:xfrm>
            <a:off x="501650" y="2258190"/>
            <a:ext cx="9554620" cy="5834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25820" y="2429640"/>
            <a:ext cx="8232373" cy="28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7B879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PROCESS SIDE, SAME CONSTRUCTION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767" y="2756211"/>
            <a:ext cx="8438900" cy="294608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155391" y="7115325"/>
            <a:ext cx="627527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155391" y="7197733"/>
            <a:ext cx="6463533" cy="1636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4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Filled circles are review units. Outlined circles are entities. Solid cyan edges are observed relationships.</a:t>
            </a:r>
            <a:endParaRPr lang="en-US" sz="2400" dirty="0">
              <a:latin typeface="Avenir Next LT Pro" panose="020B05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5F7496-76B2-1DBE-22C6-22511BD4B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95CB9C8-463D-667F-4784-DDECAB9C6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7F6F6CD8-2C3D-C82C-914E-EA0A203F794F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THE METHODOLOGY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662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2A105-E4DD-7586-26D3-F57AB872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1A90EF-9EC6-D845-1611-2A59CE3974DD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E98F7D-4ED0-7EA6-8521-A7E230158097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THE METHODOLOGY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5412CA-A259-63ED-B3B5-66F483BE2470}"/>
              </a:ext>
            </a:extLst>
          </p:cNvPr>
          <p:cNvSpPr/>
          <p:nvPr/>
        </p:nvSpPr>
        <p:spPr>
          <a:xfrm>
            <a:off x="857250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1655"/>
              </a:lnSpc>
            </a:pP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How to Represent the Dataset’s </a:t>
            </a:r>
            <a:r>
              <a:rPr lang="en-US" sz="54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Behaviour</a:t>
            </a: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?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81E99A9-792B-4A71-B37A-6955CA261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8" name="Shape 16">
            <a:extLst>
              <a:ext uri="{FF2B5EF4-FFF2-40B4-BE49-F238E27FC236}">
                <a16:creationId xmlns:a16="http://schemas.microsoft.com/office/drawing/2014/main" id="{A80DE644-CD6D-93F2-1219-5D65786DDBC8}"/>
              </a:ext>
            </a:extLst>
          </p:cNvPr>
          <p:cNvSpPr/>
          <p:nvPr/>
        </p:nvSpPr>
        <p:spPr>
          <a:xfrm>
            <a:off x="1047714" y="2512066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C598663E-2A92-4B4B-C2AB-0D48599F4138}"/>
              </a:ext>
            </a:extLst>
          </p:cNvPr>
          <p:cNvSpPr/>
          <p:nvPr/>
        </p:nvSpPr>
        <p:spPr>
          <a:xfrm>
            <a:off x="1047714" y="2785944"/>
            <a:ext cx="9022735" cy="3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73A5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Raw Features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83F2F1C0-8B43-22CD-C9E2-FBD6F6C83C65}"/>
              </a:ext>
            </a:extLst>
          </p:cNvPr>
          <p:cNvSpPr/>
          <p:nvPr/>
        </p:nvSpPr>
        <p:spPr>
          <a:xfrm>
            <a:off x="1047714" y="3116086"/>
            <a:ext cx="9022735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Measured behaviour, aggregated per unit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F097279F-4EA3-7B0E-CFD0-E17F0F4A7462}"/>
              </a:ext>
            </a:extLst>
          </p:cNvPr>
          <p:cNvSpPr/>
          <p:nvPr/>
        </p:nvSpPr>
        <p:spPr>
          <a:xfrm>
            <a:off x="1047714" y="36798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8B711337-AB1D-2ACE-954C-286793733C10}"/>
              </a:ext>
            </a:extLst>
          </p:cNvPr>
          <p:cNvSpPr/>
          <p:nvPr/>
        </p:nvSpPr>
        <p:spPr>
          <a:xfrm>
            <a:off x="1047714" y="3917206"/>
            <a:ext cx="9022735" cy="3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73A5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Structural Statistics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849FFE4B-54A0-A213-E601-3B9E6A8C3C25}"/>
              </a:ext>
            </a:extLst>
          </p:cNvPr>
          <p:cNvSpPr/>
          <p:nvPr/>
        </p:nvSpPr>
        <p:spPr>
          <a:xfrm>
            <a:off x="1047714" y="4283819"/>
            <a:ext cx="9022735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Explicit graph roles — degree, typed neighbours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7D27DDBC-4B11-8CF8-7C89-10DC76ED5A64}"/>
              </a:ext>
            </a:extLst>
          </p:cNvPr>
          <p:cNvSpPr/>
          <p:nvPr/>
        </p:nvSpPr>
        <p:spPr>
          <a:xfrm>
            <a:off x="1047714" y="4847533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0AC81FEA-F1E9-B6D1-65BD-1BC13DEBFDFA}"/>
              </a:ext>
            </a:extLst>
          </p:cNvPr>
          <p:cNvSpPr/>
          <p:nvPr/>
        </p:nvSpPr>
        <p:spPr>
          <a:xfrm>
            <a:off x="1047714" y="5121411"/>
            <a:ext cx="9022735" cy="3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73A5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Node2Vec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41545878-A01B-1926-F344-CEB9F37A423E}"/>
              </a:ext>
            </a:extLst>
          </p:cNvPr>
          <p:cNvSpPr/>
          <p:nvPr/>
        </p:nvSpPr>
        <p:spPr>
          <a:xfrm>
            <a:off x="1047714" y="5451553"/>
            <a:ext cx="9022735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Topology via random-walk neighbourhoods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D7E2AC79-08D6-9A86-35BA-AAA8D4EEFFC4}"/>
              </a:ext>
            </a:extLst>
          </p:cNvPr>
          <p:cNvSpPr/>
          <p:nvPr/>
        </p:nvSpPr>
        <p:spPr>
          <a:xfrm>
            <a:off x="1047714" y="6015267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6174DB-6FF5-7340-DC06-1F501A3C314A}"/>
              </a:ext>
            </a:extLst>
          </p:cNvPr>
          <p:cNvSpPr/>
          <p:nvPr/>
        </p:nvSpPr>
        <p:spPr>
          <a:xfrm>
            <a:off x="1047714" y="6289145"/>
            <a:ext cx="9022735" cy="3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73A5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GraphSAGE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D810334-5607-4C40-30E3-8B14C02D3756}"/>
              </a:ext>
            </a:extLst>
          </p:cNvPr>
          <p:cNvSpPr/>
          <p:nvPr/>
        </p:nvSpPr>
        <p:spPr>
          <a:xfrm>
            <a:off x="1047714" y="6619286"/>
            <a:ext cx="9022735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Features combined with graph neighbourhoods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FEE0A775-CAA8-80EC-9BDA-C38312C09B7B}"/>
              </a:ext>
            </a:extLst>
          </p:cNvPr>
          <p:cNvSpPr/>
          <p:nvPr/>
        </p:nvSpPr>
        <p:spPr>
          <a:xfrm>
            <a:off x="1047714" y="8350734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AF3D181D-7FE1-2CD2-2294-3D760FAEFEC1}"/>
              </a:ext>
            </a:extLst>
          </p:cNvPr>
          <p:cNvSpPr/>
          <p:nvPr/>
        </p:nvSpPr>
        <p:spPr>
          <a:xfrm>
            <a:off x="1047714" y="71830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F0BD1331-ACBA-6A20-7FF4-090E0C2B7348}"/>
              </a:ext>
            </a:extLst>
          </p:cNvPr>
          <p:cNvSpPr/>
          <p:nvPr/>
        </p:nvSpPr>
        <p:spPr>
          <a:xfrm>
            <a:off x="1047714" y="7456878"/>
            <a:ext cx="9022735" cy="320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973A5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DOMINANT-style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70D8716-0A27-F6B4-D21D-C64A08D88F74}"/>
              </a:ext>
            </a:extLst>
          </p:cNvPr>
          <p:cNvSpPr/>
          <p:nvPr/>
        </p:nvSpPr>
        <p:spPr>
          <a:xfrm>
            <a:off x="1047714" y="7787020"/>
            <a:ext cx="9022735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Attribute-and-structure reconstruction</a:t>
            </a:r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DC9EAFD0-1DAD-8EEA-5D29-7F41F6A70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0449" y="2222457"/>
            <a:ext cx="7502328" cy="6292261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4129A7A-D876-800F-8981-739E52B3F142}"/>
              </a:ext>
            </a:extLst>
          </p:cNvPr>
          <p:cNvSpPr/>
          <p:nvPr/>
        </p:nvSpPr>
        <p:spPr>
          <a:xfrm>
            <a:off x="11061700" y="3543300"/>
            <a:ext cx="5473700" cy="740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1F86316-B2A9-D026-7DF6-F59A810AFC98}"/>
              </a:ext>
            </a:extLst>
          </p:cNvPr>
          <p:cNvCxnSpPr>
            <a:cxnSpLocks/>
            <a:endCxn id="47" idx="3"/>
          </p:cNvCxnSpPr>
          <p:nvPr/>
        </p:nvCxnSpPr>
        <p:spPr>
          <a:xfrm>
            <a:off x="11823700" y="3189113"/>
            <a:ext cx="4711700" cy="72444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B855A9B-F422-24FC-5E73-553D7937ABC2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11823700" y="3357670"/>
            <a:ext cx="1974850" cy="92614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E0BDD37-E28D-F3DD-4BEE-13B0C189F166}"/>
              </a:ext>
            </a:extLst>
          </p:cNvPr>
          <p:cNvCxnSpPr>
            <a:cxnSpLocks/>
          </p:cNvCxnSpPr>
          <p:nvPr/>
        </p:nvCxnSpPr>
        <p:spPr>
          <a:xfrm flipH="1">
            <a:off x="11391900" y="3543300"/>
            <a:ext cx="101600" cy="73106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phic 66">
            <a:extLst>
              <a:ext uri="{FF2B5EF4-FFF2-40B4-BE49-F238E27FC236}">
                <a16:creationId xmlns:a16="http://schemas.microsoft.com/office/drawing/2014/main" id="{D2D8281B-89C8-7EF8-5830-4A5674411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70" name="Shape 16">
            <a:extLst>
              <a:ext uri="{FF2B5EF4-FFF2-40B4-BE49-F238E27FC236}">
                <a16:creationId xmlns:a16="http://schemas.microsoft.com/office/drawing/2014/main" id="{BBDFC5B7-70CE-2FC4-27C4-4B6A332B07B7}"/>
              </a:ext>
            </a:extLst>
          </p:cNvPr>
          <p:cNvSpPr/>
          <p:nvPr/>
        </p:nvSpPr>
        <p:spPr>
          <a:xfrm>
            <a:off x="-9315486" y="2512066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79BBDA7D-D963-7200-FAAF-F822D20D4BF6}"/>
              </a:ext>
            </a:extLst>
          </p:cNvPr>
          <p:cNvSpPr/>
          <p:nvPr/>
        </p:nvSpPr>
        <p:spPr>
          <a:xfrm>
            <a:off x="-9315486" y="36798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DC5B4F1D-0227-7621-C55E-838B43EAFF6F}"/>
              </a:ext>
            </a:extLst>
          </p:cNvPr>
          <p:cNvSpPr/>
          <p:nvPr/>
        </p:nvSpPr>
        <p:spPr>
          <a:xfrm>
            <a:off x="-9315486" y="4847533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BBE7796D-AE16-943B-4B0F-C27F63ABED72}"/>
              </a:ext>
            </a:extLst>
          </p:cNvPr>
          <p:cNvSpPr/>
          <p:nvPr/>
        </p:nvSpPr>
        <p:spPr>
          <a:xfrm>
            <a:off x="-9315486" y="6015267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DAD8920C-0BE6-4C5F-150E-647D5D8C274C}"/>
              </a:ext>
            </a:extLst>
          </p:cNvPr>
          <p:cNvSpPr/>
          <p:nvPr/>
        </p:nvSpPr>
        <p:spPr>
          <a:xfrm>
            <a:off x="-9315486" y="8350734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5" name="Shape 29">
            <a:extLst>
              <a:ext uri="{FF2B5EF4-FFF2-40B4-BE49-F238E27FC236}">
                <a16:creationId xmlns:a16="http://schemas.microsoft.com/office/drawing/2014/main" id="{74E49E97-AEDF-516E-19EC-5B88DCE455FB}"/>
              </a:ext>
            </a:extLst>
          </p:cNvPr>
          <p:cNvSpPr/>
          <p:nvPr/>
        </p:nvSpPr>
        <p:spPr>
          <a:xfrm>
            <a:off x="-9315486" y="71830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30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1CF78-D0FE-D71F-0FBA-2C91A264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9464F8-DD0F-B1C7-3C7C-B0BA39BB1078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0778B7-F4CC-A247-EFF8-00D6813C9281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THE METHODOLOGY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5DCEB2-0A95-F624-E4D3-7E1871945B65}"/>
              </a:ext>
            </a:extLst>
          </p:cNvPr>
          <p:cNvSpPr/>
          <p:nvPr/>
        </p:nvSpPr>
        <p:spPr>
          <a:xfrm>
            <a:off x="857250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1655"/>
              </a:lnSpc>
            </a:pP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Produce Triage Scores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B1360A1-008B-FEAA-1CC3-A2B4A868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8" name="Shape 16">
            <a:extLst>
              <a:ext uri="{FF2B5EF4-FFF2-40B4-BE49-F238E27FC236}">
                <a16:creationId xmlns:a16="http://schemas.microsoft.com/office/drawing/2014/main" id="{BAF85DAA-39BF-1CC4-9500-78A1EB92CE99}"/>
              </a:ext>
            </a:extLst>
          </p:cNvPr>
          <p:cNvSpPr/>
          <p:nvPr/>
        </p:nvSpPr>
        <p:spPr>
          <a:xfrm>
            <a:off x="1047714" y="6010461"/>
            <a:ext cx="16192464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5FF8D4ED-CDDB-37D1-F99A-05FDD3F69076}"/>
              </a:ext>
            </a:extLst>
          </p:cNvPr>
          <p:cNvSpPr/>
          <p:nvPr/>
        </p:nvSpPr>
        <p:spPr>
          <a:xfrm>
            <a:off x="1047714" y="2436551"/>
            <a:ext cx="8890848" cy="422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representation </a:t>
            </a:r>
            <a:r>
              <a:rPr lang="en-US" sz="2800" b="1" dirty="0">
                <a:solidFill>
                  <a:srgbClr val="7B879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× </a:t>
            </a: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scorer </a:t>
            </a:r>
            <a:r>
              <a:rPr lang="en-US" sz="2800" b="1" dirty="0">
                <a:solidFill>
                  <a:srgbClr val="B6BEC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ranked review queue</a:t>
            </a:r>
            <a:endParaRPr lang="en-US" sz="2800" b="1" dirty="0">
              <a:latin typeface="Avenir Next LT Pro" panose="020B0504020202020204" pitchFamily="34" charset="0"/>
            </a:endParaRPr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93ECE7AA-3D4B-D83F-4F8B-403DFB77323F}"/>
              </a:ext>
            </a:extLst>
          </p:cNvPr>
          <p:cNvSpPr/>
          <p:nvPr/>
        </p:nvSpPr>
        <p:spPr>
          <a:xfrm>
            <a:off x="1047714" y="3355442"/>
            <a:ext cx="1647279" cy="795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78A3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9870517F-FB6C-FF05-4EB4-71E3DF326442}"/>
              </a:ext>
            </a:extLst>
          </p:cNvPr>
          <p:cNvSpPr/>
          <p:nvPr/>
        </p:nvSpPr>
        <p:spPr>
          <a:xfrm>
            <a:off x="3191021" y="3361691"/>
            <a:ext cx="7034094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far from its neighbours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23168F1C-8EF4-E827-1D57-BE5A8F26F118}"/>
              </a:ext>
            </a:extLst>
          </p:cNvPr>
          <p:cNvSpPr/>
          <p:nvPr/>
        </p:nvSpPr>
        <p:spPr>
          <a:xfrm>
            <a:off x="1047714" y="3957261"/>
            <a:ext cx="1647279" cy="795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78A3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918657D4-C485-80D9-131C-5FD3C1FBAB7E}"/>
              </a:ext>
            </a:extLst>
          </p:cNvPr>
          <p:cNvSpPr/>
          <p:nvPr/>
        </p:nvSpPr>
        <p:spPr>
          <a:xfrm>
            <a:off x="3191021" y="3973035"/>
            <a:ext cx="7034094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individually easy to isolate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4BEBABA3-9E47-6805-88BE-07CF7F8AAEF9}"/>
              </a:ext>
            </a:extLst>
          </p:cNvPr>
          <p:cNvSpPr/>
          <p:nvPr/>
        </p:nvSpPr>
        <p:spPr>
          <a:xfrm>
            <a:off x="1047714" y="4559080"/>
            <a:ext cx="1647279" cy="795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78A3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HDBSCAN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60A23224-6146-DDC1-543D-665BB6D9C0FC}"/>
              </a:ext>
            </a:extLst>
          </p:cNvPr>
          <p:cNvSpPr/>
          <p:nvPr/>
        </p:nvSpPr>
        <p:spPr>
          <a:xfrm>
            <a:off x="3191021" y="4574853"/>
            <a:ext cx="7034094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member of a rare coherent population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E47B2E7-FCAF-48A8-BCDB-736BE4939B64}"/>
              </a:ext>
            </a:extLst>
          </p:cNvPr>
          <p:cNvSpPr/>
          <p:nvPr/>
        </p:nvSpPr>
        <p:spPr>
          <a:xfrm>
            <a:off x="1047714" y="5160899"/>
            <a:ext cx="1647279" cy="7951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78A32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Reconstruction</a:t>
            </a:r>
            <a:endParaRPr lang="en-US" sz="2000" dirty="0">
              <a:latin typeface="Avenir Next LT Pro" panose="020B0504020202020204" pitchFamily="34" charset="0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FB76674B-EEAF-9FA4-3F6E-1A35DA857941}"/>
              </a:ext>
            </a:extLst>
          </p:cNvPr>
          <p:cNvSpPr/>
          <p:nvPr/>
        </p:nvSpPr>
        <p:spPr>
          <a:xfrm>
            <a:off x="3191021" y="5195722"/>
            <a:ext cx="7034094" cy="335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hard for the model to explain</a:t>
            </a:r>
            <a:endParaRPr lang="en-US" sz="1725" dirty="0">
              <a:latin typeface="Avenir Next LT Pro" panose="020B0504020202020204" pitchFamily="34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9939ED9D-74A7-65D5-0A05-9897CDF63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2255" y="2428073"/>
            <a:ext cx="6682756" cy="3233629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CE61A981-6DF1-D717-3050-48CA82BDB49C}"/>
              </a:ext>
            </a:extLst>
          </p:cNvPr>
          <p:cNvSpPr/>
          <p:nvPr/>
        </p:nvSpPr>
        <p:spPr>
          <a:xfrm>
            <a:off x="1047714" y="6423525"/>
            <a:ext cx="7946655" cy="99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20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 cross-product alone just produces more numbers. What makes them evidence is what they are compared against. </a:t>
            </a: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2FBEFE54-59AC-DCC2-A05A-1D002BA237F0}"/>
              </a:ext>
            </a:extLst>
          </p:cNvPr>
          <p:cNvSpPr/>
          <p:nvPr/>
        </p:nvSpPr>
        <p:spPr>
          <a:xfrm>
            <a:off x="8162925" y="8093440"/>
            <a:ext cx="2213574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15CCC13-8C2C-5E59-8521-CCD6E565804C}"/>
              </a:ext>
            </a:extLst>
          </p:cNvPr>
          <p:cNvSpPr/>
          <p:nvPr/>
        </p:nvSpPr>
        <p:spPr>
          <a:xfrm>
            <a:off x="8360671" y="8195936"/>
            <a:ext cx="1641633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Random Rankings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15B8D5D8-00B3-5008-C562-D5E39626CC54}"/>
              </a:ext>
            </a:extLst>
          </p:cNvPr>
          <p:cNvSpPr/>
          <p:nvPr/>
        </p:nvSpPr>
        <p:spPr>
          <a:xfrm>
            <a:off x="10550068" y="8093440"/>
            <a:ext cx="2132450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58DE6CFA-423F-8A0B-F41F-FB0691B63E94}"/>
              </a:ext>
            </a:extLst>
          </p:cNvPr>
          <p:cNvSpPr/>
          <p:nvPr/>
        </p:nvSpPr>
        <p:spPr>
          <a:xfrm>
            <a:off x="10747814" y="8195936"/>
            <a:ext cx="1698921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Untrained Models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7E78E3AC-E461-9C4D-B6F9-7967E52A771A}"/>
              </a:ext>
            </a:extLst>
          </p:cNvPr>
          <p:cNvSpPr/>
          <p:nvPr/>
        </p:nvSpPr>
        <p:spPr>
          <a:xfrm>
            <a:off x="12968268" y="8093440"/>
            <a:ext cx="2309868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97D3A63B-1115-6B13-F168-337DE40F0E1E}"/>
              </a:ext>
            </a:extLst>
          </p:cNvPr>
          <p:cNvSpPr/>
          <p:nvPr/>
        </p:nvSpPr>
        <p:spPr>
          <a:xfrm>
            <a:off x="13166013" y="8195936"/>
            <a:ext cx="1833424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Permuted Relations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sp>
        <p:nvSpPr>
          <p:cNvPr id="44" name="Shape 33">
            <a:extLst>
              <a:ext uri="{FF2B5EF4-FFF2-40B4-BE49-F238E27FC236}">
                <a16:creationId xmlns:a16="http://schemas.microsoft.com/office/drawing/2014/main" id="{C17517A6-E75F-9E04-4D42-B2DBD8447603}"/>
              </a:ext>
            </a:extLst>
          </p:cNvPr>
          <p:cNvSpPr/>
          <p:nvPr/>
        </p:nvSpPr>
        <p:spPr>
          <a:xfrm>
            <a:off x="8162925" y="8687945"/>
            <a:ext cx="2075119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8CB7F853-E8D4-37FD-0E6C-6DFFC51EC4D7}"/>
              </a:ext>
            </a:extLst>
          </p:cNvPr>
          <p:cNvSpPr/>
          <p:nvPr/>
        </p:nvSpPr>
        <p:spPr>
          <a:xfrm>
            <a:off x="8360671" y="8790441"/>
            <a:ext cx="1479279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Repeated Seeds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sp>
        <p:nvSpPr>
          <p:cNvPr id="48" name="Shape 35">
            <a:extLst>
              <a:ext uri="{FF2B5EF4-FFF2-40B4-BE49-F238E27FC236}">
                <a16:creationId xmlns:a16="http://schemas.microsoft.com/office/drawing/2014/main" id="{46A18F86-55FA-3623-E344-2C7C114CFD98}"/>
              </a:ext>
            </a:extLst>
          </p:cNvPr>
          <p:cNvSpPr/>
          <p:nvPr/>
        </p:nvSpPr>
        <p:spPr>
          <a:xfrm>
            <a:off x="10376499" y="8687945"/>
            <a:ext cx="3268141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14C0A751-3023-4C2A-5302-689B09C1E67D}"/>
              </a:ext>
            </a:extLst>
          </p:cNvPr>
          <p:cNvSpPr/>
          <p:nvPr/>
        </p:nvSpPr>
        <p:spPr>
          <a:xfrm>
            <a:off x="10574246" y="8790441"/>
            <a:ext cx="2734192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Alternative Feature Selections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sp>
        <p:nvSpPr>
          <p:cNvPr id="53" name="Shape 37">
            <a:extLst>
              <a:ext uri="{FF2B5EF4-FFF2-40B4-BE49-F238E27FC236}">
                <a16:creationId xmlns:a16="http://schemas.microsoft.com/office/drawing/2014/main" id="{962A5BA4-A317-BA40-EDA1-8CCA4595E1B0}"/>
              </a:ext>
            </a:extLst>
          </p:cNvPr>
          <p:cNvSpPr/>
          <p:nvPr/>
        </p:nvSpPr>
        <p:spPr>
          <a:xfrm>
            <a:off x="13747661" y="8687945"/>
            <a:ext cx="2152715" cy="4802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246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55" name="Text 38">
            <a:extLst>
              <a:ext uri="{FF2B5EF4-FFF2-40B4-BE49-F238E27FC236}">
                <a16:creationId xmlns:a16="http://schemas.microsoft.com/office/drawing/2014/main" id="{F0CC5585-C422-C016-249E-B26DC68A20AF}"/>
              </a:ext>
            </a:extLst>
          </p:cNvPr>
          <p:cNvSpPr/>
          <p:nvPr/>
        </p:nvSpPr>
        <p:spPr>
          <a:xfrm>
            <a:off x="13945408" y="8790441"/>
            <a:ext cx="1654200" cy="3133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Multiple Datasets</a:t>
            </a:r>
            <a:endParaRPr lang="en-US" sz="1650" dirty="0">
              <a:latin typeface="Avenir Next LT Pro Demi" panose="020B0704020202020204" pitchFamily="34" charset="0"/>
            </a:endParaRPr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DD606686-C942-ACEB-8182-D4FA46F0B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4139" y="6643199"/>
            <a:ext cx="380976" cy="380976"/>
          </a:xfrm>
          <a:prstGeom prst="rect">
            <a:avLst/>
          </a:prstGeom>
        </p:spPr>
      </p:pic>
      <p:sp>
        <p:nvSpPr>
          <p:cNvPr id="61" name="Text 40">
            <a:extLst>
              <a:ext uri="{FF2B5EF4-FFF2-40B4-BE49-F238E27FC236}">
                <a16:creationId xmlns:a16="http://schemas.microsoft.com/office/drawing/2014/main" id="{548E9B81-FC77-1502-571D-E68677328C6F}"/>
              </a:ext>
            </a:extLst>
          </p:cNvPr>
          <p:cNvSpPr/>
          <p:nvPr/>
        </p:nvSpPr>
        <p:spPr>
          <a:xfrm>
            <a:off x="10415547" y="6640821"/>
            <a:ext cx="7494640" cy="423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8308"/>
              </a:lnSpc>
              <a:buNone/>
            </a:pPr>
            <a:r>
              <a:rPr lang="en-US" sz="2250" b="1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Labels enter only at evaluation. Never at construction.</a:t>
            </a:r>
            <a:endParaRPr lang="en-US" sz="2250" dirty="0">
              <a:latin typeface="Avenir Next LT Pro" panose="020B05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7C0487-CA52-AA70-F06D-2D24E7310C42}"/>
              </a:ext>
            </a:extLst>
          </p:cNvPr>
          <p:cNvSpPr txBox="1"/>
          <p:nvPr/>
        </p:nvSpPr>
        <p:spPr>
          <a:xfrm>
            <a:off x="1047714" y="7718245"/>
            <a:ext cx="7034258" cy="1230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7072"/>
              </a:lnSpc>
              <a:buNone/>
            </a:pPr>
            <a:endParaRPr lang="en-US" sz="20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>
              <a:lnSpc>
                <a:spcPct val="127072"/>
              </a:lnSpc>
            </a:pPr>
            <a:r>
              <a:rPr lang="en-US" sz="20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Controls distinguish useful </a:t>
            </a:r>
            <a:r>
              <a:rPr lang="en-US" sz="20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behaviour</a:t>
            </a:r>
            <a:r>
              <a:rPr lang="en-US" sz="20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from architecture, randomness, and dataset shortcuts.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7579E808-AB1E-7A94-B633-B8CC7DC8A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77" name="Shape 16">
            <a:extLst>
              <a:ext uri="{FF2B5EF4-FFF2-40B4-BE49-F238E27FC236}">
                <a16:creationId xmlns:a16="http://schemas.microsoft.com/office/drawing/2014/main" id="{5F407851-FCB3-25CB-CE3A-FD989BE057AF}"/>
              </a:ext>
            </a:extLst>
          </p:cNvPr>
          <p:cNvSpPr/>
          <p:nvPr/>
        </p:nvSpPr>
        <p:spPr>
          <a:xfrm>
            <a:off x="-9315486" y="2512066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79" name="Shape 19">
            <a:extLst>
              <a:ext uri="{FF2B5EF4-FFF2-40B4-BE49-F238E27FC236}">
                <a16:creationId xmlns:a16="http://schemas.microsoft.com/office/drawing/2014/main" id="{32BA2DE7-2B06-B682-0B03-6AD4BEFA2DDA}"/>
              </a:ext>
            </a:extLst>
          </p:cNvPr>
          <p:cNvSpPr/>
          <p:nvPr/>
        </p:nvSpPr>
        <p:spPr>
          <a:xfrm>
            <a:off x="-9315486" y="36798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81" name="Shape 22">
            <a:extLst>
              <a:ext uri="{FF2B5EF4-FFF2-40B4-BE49-F238E27FC236}">
                <a16:creationId xmlns:a16="http://schemas.microsoft.com/office/drawing/2014/main" id="{8627BDF5-E901-4387-1AC2-9F8B6EBD14FB}"/>
              </a:ext>
            </a:extLst>
          </p:cNvPr>
          <p:cNvSpPr/>
          <p:nvPr/>
        </p:nvSpPr>
        <p:spPr>
          <a:xfrm>
            <a:off x="-9315486" y="4847533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83" name="Shape 25">
            <a:extLst>
              <a:ext uri="{FF2B5EF4-FFF2-40B4-BE49-F238E27FC236}">
                <a16:creationId xmlns:a16="http://schemas.microsoft.com/office/drawing/2014/main" id="{80A65C36-AF70-2B24-E516-45D2F9DDD194}"/>
              </a:ext>
            </a:extLst>
          </p:cNvPr>
          <p:cNvSpPr/>
          <p:nvPr/>
        </p:nvSpPr>
        <p:spPr>
          <a:xfrm>
            <a:off x="-9315486" y="6015267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FA34B018-77C4-1DF0-E10C-2BB5A0EBAB42}"/>
              </a:ext>
            </a:extLst>
          </p:cNvPr>
          <p:cNvSpPr/>
          <p:nvPr/>
        </p:nvSpPr>
        <p:spPr>
          <a:xfrm>
            <a:off x="-9315486" y="8350734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  <p:sp>
        <p:nvSpPr>
          <p:cNvPr id="87" name="Shape 29">
            <a:extLst>
              <a:ext uri="{FF2B5EF4-FFF2-40B4-BE49-F238E27FC236}">
                <a16:creationId xmlns:a16="http://schemas.microsoft.com/office/drawing/2014/main" id="{256318E8-1317-B7FF-EA72-D3CC04B53282}"/>
              </a:ext>
            </a:extLst>
          </p:cNvPr>
          <p:cNvSpPr/>
          <p:nvPr/>
        </p:nvSpPr>
        <p:spPr>
          <a:xfrm>
            <a:off x="-9315486" y="7183000"/>
            <a:ext cx="8202487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 sz="200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527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93DF-CFE2-954F-A68F-DF1F3D27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E2140A-24A7-4BC7-5EF9-EE32734F8D59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0C29E8-5F36-05C1-85EB-D98470B9A267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80999CD-584E-DFFB-8675-264FEA95E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22A0B-7842-7AE3-E2A6-2385B954D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73" t="12310"/>
          <a:stretch>
            <a:fillRect/>
          </a:stretch>
        </p:blipFill>
        <p:spPr>
          <a:xfrm>
            <a:off x="3763477" y="2265352"/>
            <a:ext cx="13551067" cy="680720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C82B50-250F-F26C-E2EF-97142B6E7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F9E65368-B6FE-5841-589B-390A77666940}"/>
              </a:ext>
            </a:extLst>
          </p:cNvPr>
          <p:cNvSpPr/>
          <p:nvPr/>
        </p:nvSpPr>
        <p:spPr>
          <a:xfrm>
            <a:off x="4076700" y="1484899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indent="0">
              <a:lnSpc>
                <a:spcPct val="91655"/>
              </a:lnSpc>
              <a:buNone/>
            </a:pPr>
            <a:r>
              <a:rPr lang="en-US" sz="54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MetaTriage</a:t>
            </a:r>
            <a:endParaRPr lang="en-US" sz="5400" b="1" kern="0" spc="-88" dirty="0">
              <a:solidFill>
                <a:srgbClr val="16202A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D2AB867-38DD-7D83-AEAF-9470E3F73AB2}"/>
              </a:ext>
            </a:extLst>
          </p:cNvPr>
          <p:cNvSpPr/>
          <p:nvPr/>
        </p:nvSpPr>
        <p:spPr>
          <a:xfrm>
            <a:off x="19169913" y="7115325"/>
            <a:ext cx="6275275" cy="9525"/>
          </a:xfrm>
          <a:prstGeom prst="rect">
            <a:avLst/>
          </a:prstGeom>
          <a:solidFill>
            <a:srgbClr val="DCE2E8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7E28DF-FB9B-D159-DCEA-C0A36BDC2B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2" t="26" r="84326"/>
          <a:stretch>
            <a:fillRect/>
          </a:stretch>
        </p:blipFill>
        <p:spPr>
          <a:xfrm>
            <a:off x="1183908" y="1214439"/>
            <a:ext cx="2579570" cy="776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76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E63D0-01CF-536F-CD9D-63D28957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50CB91-4D00-ECE8-81B1-1CAF92429154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F27B9D-78AC-245E-38BF-C015DB942C49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F3829A-441B-FF77-7B95-12C77E22D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1918A-6D03-AA76-0E47-C3B9EB87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87" y="2797186"/>
            <a:ext cx="17750825" cy="506118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8813471-0ADC-0327-E3D9-2FC409703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00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212D6-D19B-C660-C475-4BBFE93A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9091CF-5FFC-D991-C926-D415C0BE32E7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1FDB8B-8E9A-67F9-33CE-94FE8A0C5BC3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CEC6B62-DF76-7B5D-090E-D1DB99D0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B60D23-47D8-7E50-61E5-33E663123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236" y="4525627"/>
            <a:ext cx="8776951" cy="4360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A4E182-73A5-7BCA-5572-4927ACD6C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48" y="4511113"/>
            <a:ext cx="8576818" cy="4360744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01A61457-2412-E1BA-37C0-4794F4E9FDA4}"/>
              </a:ext>
            </a:extLst>
          </p:cNvPr>
          <p:cNvSpPr/>
          <p:nvPr/>
        </p:nvSpPr>
        <p:spPr>
          <a:xfrm>
            <a:off x="667657" y="1657291"/>
            <a:ext cx="8026401" cy="24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Average Precision Winner: 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GraphSAGE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(Trained) </a:t>
            </a:r>
            <a:r>
              <a:rPr lang="en-US" sz="28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kNN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mean distance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Network Connection and Transfer profile: </a:t>
            </a:r>
          </a:p>
          <a:p>
            <a:pPr marL="914400" lvl="1" indent="-457200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0.165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Untrained version </a:t>
            </a:r>
            <a:r>
              <a:rPr lang="en-US" sz="2800" b="1" i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0.159</a:t>
            </a:r>
          </a:p>
          <a:p>
            <a:pPr marL="0" indent="0" algn="l">
              <a:lnSpc>
                <a:spcPct val="116189"/>
              </a:lnSpc>
              <a:buNone/>
            </a:pP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52BEF7ED-2D3C-1701-242D-380491D59F56}"/>
              </a:ext>
            </a:extLst>
          </p:cNvPr>
          <p:cNvSpPr/>
          <p:nvPr/>
        </p:nvSpPr>
        <p:spPr>
          <a:xfrm>
            <a:off x="9593943" y="1657291"/>
            <a:ext cx="8015980" cy="2430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6189"/>
              </a:lnSpc>
              <a:buNone/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Recall@100 Winner: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DOMINANT-Style Joint Reconstruction error – Network Connection and Transfer Profile</a:t>
            </a:r>
          </a:p>
          <a:p>
            <a:pPr marL="914400" lvl="1" indent="-457200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0.147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Tie with Raw sessions of the same </a:t>
            </a:r>
            <a:r>
              <a:rPr lang="en-US" sz="28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behaviour</a:t>
            </a:r>
            <a:r>
              <a:rPr lang="en-US" sz="28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set</a:t>
            </a:r>
          </a:p>
          <a:p>
            <a:pPr marL="457200" indent="-457200" algn="l">
              <a:lnSpc>
                <a:spcPct val="116189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  <a:p>
            <a:pPr marL="0" indent="0" algn="l">
              <a:lnSpc>
                <a:spcPct val="116189"/>
              </a:lnSpc>
              <a:buNone/>
            </a:pPr>
            <a:endParaRPr lang="en-US" sz="2800" dirty="0">
              <a:solidFill>
                <a:srgbClr val="16202A"/>
              </a:solidFill>
              <a:latin typeface="Avenir Next LT Pro" panose="020B0504020202020204" pitchFamily="34" charset="0"/>
              <a:cs typeface="Arial" pitchFamily="34" charset="-120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2820562E-C033-1851-EC62-FC883C4FE2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87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C0A25-3530-5060-AE43-A6164AD8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9D7BCB-D874-EA9D-4F97-5CEA4F91E041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1F978-306E-929B-0977-DBC23A26A932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CBFB67F-2DC6-3020-FED2-6564DB133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9A8566-C6CC-69AB-FE8A-642A3AD8D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97" y="2258478"/>
            <a:ext cx="17104406" cy="577004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337580-AD50-4EA7-FB0E-A5E55C97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8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E5B1D-44C0-D757-8E5E-2BF46E3A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8F4C9B-371A-6D60-24DE-5E9D616E390B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3FFA73-586A-20C0-4E32-496456DDC150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9A99B75-7EDB-989D-9106-3FCFC60A4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DE7258-6DE1-4630-B333-96FAC36CC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89" y="1999784"/>
            <a:ext cx="17268161" cy="628743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D354220-3882-236F-6220-659AA3FFF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11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EC5F7-9158-4B4E-EBB6-76409954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BEF2CD-3DB6-2522-DA65-36FB2408A3E9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7FB31A-535B-DB86-EB2D-4C379009306A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7BED9C0-1B80-343D-FB34-CB331761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2BD360-5AFA-A4BB-D27A-568F717E8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25" y="1828337"/>
            <a:ext cx="17299814" cy="66303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94629B8-E9BF-FE2F-7041-49F4C65BF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14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3BC64-63B3-F728-F1E8-0FEE9243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9D6201-7C84-208F-19D4-9758218CD5CA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0F0DD2C-BEC9-A38B-1E6B-CD1822465E6C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2FC48F-76DC-6DA4-660D-3F575B4BD594}"/>
              </a:ext>
            </a:extLst>
          </p:cNvPr>
          <p:cNvSpPr/>
          <p:nvPr/>
        </p:nvSpPr>
        <p:spPr>
          <a:xfrm>
            <a:off x="857250" y="118382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1655"/>
              </a:lnSpc>
            </a:pP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Signal Geometry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8702D71-2F67-2084-244A-E2343AE8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209667F5-FE81-77F7-DB0C-88B1C1A5AB89}"/>
              </a:ext>
            </a:extLst>
          </p:cNvPr>
          <p:cNvSpPr/>
          <p:nvPr/>
        </p:nvSpPr>
        <p:spPr>
          <a:xfrm>
            <a:off x="857250" y="2765482"/>
            <a:ext cx="2379235" cy="283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973A5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representation vectors</a:t>
            </a:r>
            <a:endParaRPr lang="en-US" sz="1575" dirty="0">
              <a:latin typeface="Avenir Next LT Pro Demi" panose="020B0704020202020204" pitchFamily="34" charset="0"/>
            </a:endParaRPr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E97B9F6C-F7ED-B235-A149-15048A171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7841" y="2821272"/>
            <a:ext cx="323850" cy="133350"/>
          </a:xfrm>
          <a:prstGeom prst="rect">
            <a:avLst/>
          </a:prstGeom>
        </p:spPr>
      </p:pic>
      <p:sp>
        <p:nvSpPr>
          <p:cNvPr id="44" name="Text 5">
            <a:extLst>
              <a:ext uri="{FF2B5EF4-FFF2-40B4-BE49-F238E27FC236}">
                <a16:creationId xmlns:a16="http://schemas.microsoft.com/office/drawing/2014/main" id="{02C62C15-93C7-EE95-8890-5F0CA5217272}"/>
              </a:ext>
            </a:extLst>
          </p:cNvPr>
          <p:cNvSpPr/>
          <p:nvPr/>
        </p:nvSpPr>
        <p:spPr>
          <a:xfrm>
            <a:off x="3839341" y="2765482"/>
            <a:ext cx="2880003" cy="283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973A5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dotted kNN similarity graph</a:t>
            </a:r>
            <a:endParaRPr lang="en-US" sz="1575" dirty="0">
              <a:latin typeface="Avenir Next LT Pro Demi" panose="020B0704020202020204" pitchFamily="34" charset="0"/>
            </a:endParaRPr>
          </a:p>
        </p:txBody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41210AB8-FB9E-86E3-202C-FBE4391FC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5175" y="2821272"/>
            <a:ext cx="323850" cy="13335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2997D638-ED39-BC84-F5BB-CF79F621B1A5}"/>
              </a:ext>
            </a:extLst>
          </p:cNvPr>
          <p:cNvSpPr/>
          <p:nvPr/>
        </p:nvSpPr>
        <p:spPr>
          <a:xfrm>
            <a:off x="7276675" y="2765482"/>
            <a:ext cx="3144560" cy="283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78A32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anomaly signal s on the graph</a:t>
            </a:r>
            <a:endParaRPr lang="en-US" sz="1575" dirty="0">
              <a:latin typeface="Avenir Next LT Pro Demi" panose="020B0704020202020204" pitchFamily="34" charset="0"/>
            </a:endParaRP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7F0BD33-99BC-1840-FB9D-46F977CD368D}"/>
              </a:ext>
            </a:extLst>
          </p:cNvPr>
          <p:cNvSpPr/>
          <p:nvPr/>
        </p:nvSpPr>
        <p:spPr>
          <a:xfrm>
            <a:off x="12236394" y="2634599"/>
            <a:ext cx="5194357" cy="544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22500"/>
              </a:lnSpc>
              <a:buNone/>
            </a:pPr>
            <a:r>
              <a:rPr lang="en-US" sz="14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Here, </a:t>
            </a:r>
            <a:r>
              <a:rPr lang="en-US" sz="1425" dirty="0">
                <a:solidFill>
                  <a:srgbClr val="5F6B76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neighbouring</a:t>
            </a:r>
            <a:r>
              <a:rPr lang="en-US" sz="1425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 review units are mathematically similar — not necessarily connected in the original telemetry.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2635AD02-60B1-B73E-E999-8693AA30FEA8}"/>
              </a:ext>
            </a:extLst>
          </p:cNvPr>
          <p:cNvSpPr/>
          <p:nvPr/>
        </p:nvSpPr>
        <p:spPr>
          <a:xfrm>
            <a:off x="857250" y="3693573"/>
            <a:ext cx="5194272" cy="365623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pic>
        <p:nvPicPr>
          <p:cNvPr id="55" name="Image 2" descr="preencoded.png">
            <a:extLst>
              <a:ext uri="{FF2B5EF4-FFF2-40B4-BE49-F238E27FC236}">
                <a16:creationId xmlns:a16="http://schemas.microsoft.com/office/drawing/2014/main" id="{B8F948DF-C04F-8D05-E606-BCCA615C9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443" y="3965716"/>
            <a:ext cx="4611886" cy="1809750"/>
          </a:xfrm>
          <a:prstGeom prst="rect">
            <a:avLst/>
          </a:prstGeom>
        </p:spPr>
      </p:pic>
      <p:sp>
        <p:nvSpPr>
          <p:cNvPr id="57" name="Text 9">
            <a:extLst>
              <a:ext uri="{FF2B5EF4-FFF2-40B4-BE49-F238E27FC236}">
                <a16:creationId xmlns:a16="http://schemas.microsoft.com/office/drawing/2014/main" id="{DDBB7951-C719-6E28-0AC3-4B7E3DD2CE0E}"/>
              </a:ext>
            </a:extLst>
          </p:cNvPr>
          <p:cNvSpPr/>
          <p:nvPr/>
        </p:nvSpPr>
        <p:spPr>
          <a:xfrm>
            <a:off x="1148443" y="5946917"/>
            <a:ext cx="5073075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Neighbourhood-supported</a:t>
            </a:r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A7322DCA-A86A-8150-1D00-2E0D5775A67B}"/>
              </a:ext>
            </a:extLst>
          </p:cNvPr>
          <p:cNvSpPr/>
          <p:nvPr/>
        </p:nvSpPr>
        <p:spPr>
          <a:xfrm>
            <a:off x="1148443" y="6395952"/>
            <a:ext cx="507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High scores have high-scoring neighbours.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AF83B4CF-7BF5-7CD7-5B60-1C836DD6E0BA}"/>
              </a:ext>
            </a:extLst>
          </p:cNvPr>
          <p:cNvSpPr/>
          <p:nvPr/>
        </p:nvSpPr>
        <p:spPr>
          <a:xfrm>
            <a:off x="1148443" y="6843627"/>
            <a:ext cx="5073075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3973A5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Ps</a:t>
            </a:r>
            <a:endParaRPr lang="en-US" sz="1650" dirty="0">
              <a:latin typeface="Avenir Next LT Pro" panose="020B0504020202020204" pitchFamily="34" charset="0"/>
            </a:endParaRPr>
          </a:p>
        </p:txBody>
      </p:sp>
      <p:sp>
        <p:nvSpPr>
          <p:cNvPr id="63" name="Shape 12">
            <a:extLst>
              <a:ext uri="{FF2B5EF4-FFF2-40B4-BE49-F238E27FC236}">
                <a16:creationId xmlns:a16="http://schemas.microsoft.com/office/drawing/2014/main" id="{D84EB6A7-4383-1EB9-8CD9-E918D6916B0F}"/>
              </a:ext>
            </a:extLst>
          </p:cNvPr>
          <p:cNvSpPr/>
          <p:nvPr/>
        </p:nvSpPr>
        <p:spPr>
          <a:xfrm>
            <a:off x="6546822" y="3693573"/>
            <a:ext cx="5194272" cy="365623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pic>
        <p:nvPicPr>
          <p:cNvPr id="65" name="Image 3" descr="preencoded.png">
            <a:extLst>
              <a:ext uri="{FF2B5EF4-FFF2-40B4-BE49-F238E27FC236}">
                <a16:creationId xmlns:a16="http://schemas.microsoft.com/office/drawing/2014/main" id="{487D04AB-EC93-6A76-C5BC-05DA5DD714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38015" y="3965716"/>
            <a:ext cx="4611886" cy="1809750"/>
          </a:xfrm>
          <a:prstGeom prst="rect">
            <a:avLst/>
          </a:prstGeom>
        </p:spPr>
      </p:pic>
      <p:sp>
        <p:nvSpPr>
          <p:cNvPr id="67" name="Text 13">
            <a:extLst>
              <a:ext uri="{FF2B5EF4-FFF2-40B4-BE49-F238E27FC236}">
                <a16:creationId xmlns:a16="http://schemas.microsoft.com/office/drawing/2014/main" id="{03EACE70-335F-DFE1-8AFA-629695554548}"/>
              </a:ext>
            </a:extLst>
          </p:cNvPr>
          <p:cNvSpPr/>
          <p:nvPr/>
        </p:nvSpPr>
        <p:spPr>
          <a:xfrm>
            <a:off x="6838015" y="5946917"/>
            <a:ext cx="5073075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Locally contrastive</a:t>
            </a:r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EAF60228-E14C-C11C-204C-697D2D3F36BA}"/>
              </a:ext>
            </a:extLst>
          </p:cNvPr>
          <p:cNvSpPr/>
          <p:nvPr/>
        </p:nvSpPr>
        <p:spPr>
          <a:xfrm>
            <a:off x="6838015" y="6395952"/>
            <a:ext cx="507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High scores rise above their neighbours.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23492CEF-40F5-F89F-961D-1487A14A3FC2}"/>
              </a:ext>
            </a:extLst>
          </p:cNvPr>
          <p:cNvSpPr/>
          <p:nvPr/>
        </p:nvSpPr>
        <p:spPr>
          <a:xfrm>
            <a:off x="6838015" y="6843627"/>
            <a:ext cx="5073075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3973A5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s − Ps</a:t>
            </a:r>
            <a:endParaRPr lang="en-US" sz="1650" dirty="0">
              <a:latin typeface="Avenir Next LT Pro" panose="020B0504020202020204" pitchFamily="34" charset="0"/>
            </a:endParaRPr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E9E40930-6E77-B027-9B2E-4F0A6746B5E5}"/>
              </a:ext>
            </a:extLst>
          </p:cNvPr>
          <p:cNvSpPr/>
          <p:nvPr/>
        </p:nvSpPr>
        <p:spPr>
          <a:xfrm>
            <a:off x="12236394" y="3693573"/>
            <a:ext cx="5194272" cy="3656239"/>
          </a:xfrm>
          <a:prstGeom prst="roundRect">
            <a:avLst>
              <a:gd name="adj" fmla="val 3126"/>
            </a:avLst>
          </a:prstGeom>
          <a:solidFill>
            <a:srgbClr val="FFFFFF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pic>
        <p:nvPicPr>
          <p:cNvPr id="75" name="Image 4" descr="preencoded.png">
            <a:extLst>
              <a:ext uri="{FF2B5EF4-FFF2-40B4-BE49-F238E27FC236}">
                <a16:creationId xmlns:a16="http://schemas.microsoft.com/office/drawing/2014/main" id="{BF0E139E-E3D2-AF40-D1B8-E139CA9A8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27586" y="3965716"/>
            <a:ext cx="4611886" cy="1809750"/>
          </a:xfrm>
          <a:prstGeom prst="rect">
            <a:avLst/>
          </a:prstGeom>
        </p:spPr>
      </p:pic>
      <p:sp>
        <p:nvSpPr>
          <p:cNvPr id="77" name="Text 17">
            <a:extLst>
              <a:ext uri="{FF2B5EF4-FFF2-40B4-BE49-F238E27FC236}">
                <a16:creationId xmlns:a16="http://schemas.microsoft.com/office/drawing/2014/main" id="{357F157A-7697-C2C7-280D-6F9DC6B43A64}"/>
              </a:ext>
            </a:extLst>
          </p:cNvPr>
          <p:cNvSpPr/>
          <p:nvPr/>
        </p:nvSpPr>
        <p:spPr>
          <a:xfrm>
            <a:off x="12527586" y="5946917"/>
            <a:ext cx="5073075" cy="31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Intermediate-scale</a:t>
            </a:r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79" name="Text 18">
            <a:extLst>
              <a:ext uri="{FF2B5EF4-FFF2-40B4-BE49-F238E27FC236}">
                <a16:creationId xmlns:a16="http://schemas.microsoft.com/office/drawing/2014/main" id="{0AB911CD-039A-702E-D942-F84D77A6CD4A}"/>
              </a:ext>
            </a:extLst>
          </p:cNvPr>
          <p:cNvSpPr/>
          <p:nvPr/>
        </p:nvSpPr>
        <p:spPr>
          <a:xfrm>
            <a:off x="12527586" y="6395952"/>
            <a:ext cx="50730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One-hop pockets weaken at two hops.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B56166C2-1033-FA59-7BBF-F236F775FD96}"/>
              </a:ext>
            </a:extLst>
          </p:cNvPr>
          <p:cNvSpPr/>
          <p:nvPr/>
        </p:nvSpPr>
        <p:spPr>
          <a:xfrm>
            <a:off x="12527586" y="6843627"/>
            <a:ext cx="5073075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3973A5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Ps − P²s</a:t>
            </a:r>
            <a:endParaRPr lang="en-US" sz="1650" dirty="0">
              <a:latin typeface="Avenir Next LT Pro" panose="020B0504020202020204" pitchFamily="34" charset="0"/>
            </a:endParaRPr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8067C142-DB5B-439D-323E-6059A5FFFC27}"/>
              </a:ext>
            </a:extLst>
          </p:cNvPr>
          <p:cNvSpPr/>
          <p:nvPr/>
        </p:nvSpPr>
        <p:spPr>
          <a:xfrm>
            <a:off x="857249" y="8028809"/>
            <a:ext cx="16573417" cy="1139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2500"/>
              </a:lnSpc>
              <a:buNone/>
            </a:pPr>
            <a:r>
              <a:rPr lang="en-US" sz="2800" dirty="0">
                <a:solidFill>
                  <a:srgbClr val="18324A"/>
                </a:solidFill>
                <a:latin typeface="Avenir Next LT Pro Demi" panose="020B0704020202020204" pitchFamily="34" charset="0"/>
                <a:ea typeface="Arial" pitchFamily="34" charset="-122"/>
                <a:cs typeface="Arial" pitchFamily="34" charset="-120"/>
              </a:rPr>
              <a:t>This explains how a ranking is organized before labels are used to assess its usefulness</a:t>
            </a:r>
            <a:endParaRPr lang="en-US" sz="2800" dirty="0">
              <a:latin typeface="Avenir Next LT Pro Demi" panose="020B0704020202020204" pitchFamily="34" charset="0"/>
            </a:endParaRP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B3D0CDD7-1995-2CF9-EDC3-E6857147D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2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5664-5E89-07CF-5EA5-37DA66F7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D51611-A9B9-BB22-6DC5-AF51D9500436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DCA12A-501C-3862-47CD-6BDDD53144B4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601FB8-5394-CD62-8FBB-8EBE0CC0954A}"/>
              </a:ext>
            </a:extLst>
          </p:cNvPr>
          <p:cNvSpPr/>
          <p:nvPr/>
        </p:nvSpPr>
        <p:spPr>
          <a:xfrm>
            <a:off x="857250" y="1095931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1655"/>
              </a:lnSpc>
            </a:pPr>
            <a:r>
              <a:rPr lang="en-US" sz="54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Signal Geometry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2B5DE6C-C5EC-0637-2C56-D2F3ED01E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9D9FD-96A8-010B-20BA-7B99AE855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740" y="2000767"/>
            <a:ext cx="14655869" cy="775704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CCC60AE-31BC-1110-F2E0-51E075DD0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83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749FC-1DFC-A876-3013-56E7FA41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2A7970-B206-EE93-7F01-5A29843EF89A}"/>
              </a:ext>
            </a:extLst>
          </p:cNvPr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8230CC-2B12-5757-76D4-AB1E708A4045}"/>
              </a:ext>
            </a:extLst>
          </p:cNvPr>
          <p:cNvSpPr/>
          <p:nvPr/>
        </p:nvSpPr>
        <p:spPr>
          <a:xfrm>
            <a:off x="857250" y="533400"/>
            <a:ext cx="2090261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THE METHODOLOGY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DA90FE3-5B98-5A7A-96D1-FC1CD39A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48B0A6-5EEC-7436-1618-E55E5B531EC7}"/>
              </a:ext>
            </a:extLst>
          </p:cNvPr>
          <p:cNvSpPr txBox="1"/>
          <p:nvPr/>
        </p:nvSpPr>
        <p:spPr>
          <a:xfrm>
            <a:off x="936489" y="3949535"/>
            <a:ext cx="9554704" cy="2616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1655"/>
              </a:lnSpc>
            </a:pPr>
            <a:r>
              <a:rPr lang="en-CA" sz="40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GraphSAGE</a:t>
            </a:r>
            <a:r>
              <a:rPr lang="en-CA" sz="40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 (trained) </a:t>
            </a:r>
          </a:p>
          <a:p>
            <a:pPr>
              <a:lnSpc>
                <a:spcPct val="81655"/>
              </a:lnSpc>
            </a:pPr>
            <a:r>
              <a:rPr lang="en-CA" sz="40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kNN</a:t>
            </a:r>
            <a:r>
              <a:rPr lang="en-CA" sz="40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 mean distance </a:t>
            </a:r>
          </a:p>
          <a:p>
            <a:pPr>
              <a:lnSpc>
                <a:spcPct val="81655"/>
              </a:lnSpc>
            </a:pPr>
            <a:r>
              <a:rPr lang="en-CA" sz="40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Network Profile </a:t>
            </a:r>
          </a:p>
          <a:p>
            <a:pPr>
              <a:lnSpc>
                <a:spcPct val="81655"/>
              </a:lnSpc>
            </a:pPr>
            <a:r>
              <a:rPr lang="en-CA" sz="40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	</a:t>
            </a:r>
          </a:p>
          <a:p>
            <a:pPr>
              <a:lnSpc>
                <a:spcPct val="81655"/>
              </a:lnSpc>
            </a:pPr>
            <a:r>
              <a:rPr lang="en-CA" sz="40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	</a:t>
            </a:r>
            <a:r>
              <a:rPr lang="en-CA" sz="4000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· Neighbor 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0705E7-3878-223E-A75B-932E1B00B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909" y="1183821"/>
            <a:ext cx="6906516" cy="857399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AA22FFD-8BD0-00A3-88E2-BDA876C5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55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175DA-357D-17C3-0C09-A2C2F360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58AB16D-3A81-7A79-8FE7-116ABF43A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66" r="876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8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7D200-D42D-BE3D-AA10-D0CF2273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864493-44E1-88FA-7202-9955F739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66" r="876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455C4A-CFA0-3E5A-B5CF-4F41EE00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66" t="17947" r="7692" b="14843"/>
          <a:stretch>
            <a:fillRect/>
          </a:stretch>
        </p:blipFill>
        <p:spPr>
          <a:xfrm>
            <a:off x="0" y="0"/>
            <a:ext cx="5355771" cy="5413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95029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8D12F-B6DA-4B4B-DECB-F067FA8F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81A077-2AA7-5198-2208-CABE135B0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54" t="36256" r="31494" b="18861"/>
          <a:stretch>
            <a:fillRect/>
          </a:stretch>
        </p:blipFill>
        <p:spPr>
          <a:xfrm>
            <a:off x="-265472" y="0"/>
            <a:ext cx="18553471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F4E6B2-770B-A10F-62B6-D113B6D929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t="55900" r="24660" b="27662"/>
          <a:stretch>
            <a:fillRect/>
          </a:stretch>
        </p:blipFill>
        <p:spPr>
          <a:xfrm>
            <a:off x="1537080" y="4339770"/>
            <a:ext cx="4704062" cy="37882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17978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63EB3-A794-1B50-39BA-5BD77265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43D02D-B6D6-5919-2E2C-CF8048748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80" r="25849" b="37830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3CAEC2-F989-63C2-E0F7-68BC3E2076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13" t="28458" r="27444" b="31928"/>
          <a:stretch>
            <a:fillRect/>
          </a:stretch>
        </p:blipFill>
        <p:spPr>
          <a:xfrm>
            <a:off x="11263086" y="4136571"/>
            <a:ext cx="5762171" cy="53122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9385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BA31F-A627-DF41-47D6-1162CE38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CA6AF-F93F-0C3B-7BDF-47517BFFF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599" y="728046"/>
            <a:ext cx="7640116" cy="883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08B6A2-5544-E938-DDC5-DC52382307EB}"/>
              </a:ext>
            </a:extLst>
          </p:cNvPr>
          <p:cNvSpPr txBox="1"/>
          <p:nvPr/>
        </p:nvSpPr>
        <p:spPr>
          <a:xfrm>
            <a:off x="631372" y="989150"/>
            <a:ext cx="9158514" cy="1380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1655"/>
              </a:lnSpc>
            </a:pPr>
            <a:r>
              <a:rPr lang="en-CA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Node2Vec / </a:t>
            </a:r>
            <a:r>
              <a:rPr lang="en-CA" sz="5100" b="1" kern="0" spc="-88" dirty="0" err="1">
                <a:solidFill>
                  <a:srgbClr val="16202A"/>
                </a:solidFill>
                <a:latin typeface="Avenir Next LT Pro" panose="020B0504020202020204" pitchFamily="34" charset="0"/>
              </a:rPr>
              <a:t>DeepWalk</a:t>
            </a:r>
            <a:r>
              <a:rPr lang="en-CA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 HDBSCAN rare population</a:t>
            </a:r>
          </a:p>
        </p:txBody>
      </p:sp>
    </p:spTree>
    <p:extLst>
      <p:ext uri="{BB962C8B-B14F-4D97-AF65-F5344CB8AC3E}">
        <p14:creationId xmlns:p14="http://schemas.microsoft.com/office/powerpoint/2010/main" val="2950516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37A36-F559-BFCE-A692-A2C92483B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ABB6B5-D77B-6244-D3FB-39D3FBA4E35F}"/>
              </a:ext>
            </a:extLst>
          </p:cNvPr>
          <p:cNvSpPr txBox="1"/>
          <p:nvPr/>
        </p:nvSpPr>
        <p:spPr>
          <a:xfrm>
            <a:off x="631372" y="989150"/>
            <a:ext cx="9158514" cy="2023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1655"/>
              </a:lnSpc>
            </a:pPr>
            <a:r>
              <a:rPr lang="en-US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DOMINANT-style (trained) Joint reconstruction error  Network Profile </a:t>
            </a:r>
            <a:endParaRPr lang="en-CA" sz="5100" b="1" kern="0" spc="-88" dirty="0">
              <a:solidFill>
                <a:srgbClr val="16202A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7DAE53-FC24-1E27-C9EF-231C891F1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183" y="1161535"/>
            <a:ext cx="7094389" cy="8039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A65018-FA8E-61A8-2D1F-A49C2D67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037" y="4857750"/>
            <a:ext cx="6368119" cy="2919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D42064-A71D-44EC-5D20-D560CB781704}"/>
              </a:ext>
            </a:extLst>
          </p:cNvPr>
          <p:cNvSpPr txBox="1"/>
          <p:nvPr/>
        </p:nvSpPr>
        <p:spPr>
          <a:xfrm>
            <a:off x="631372" y="8045175"/>
            <a:ext cx="9158514" cy="496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1655"/>
              </a:lnSpc>
            </a:pPr>
            <a:r>
              <a:rPr lang="en-US" sz="3200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Malicious Labels</a:t>
            </a:r>
            <a:endParaRPr lang="en-CA" sz="3200" kern="0" spc="-88" dirty="0">
              <a:solidFill>
                <a:srgbClr val="16202A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2129D9-F02D-1FB8-1A5D-3EABFD434B91}"/>
              </a:ext>
            </a:extLst>
          </p:cNvPr>
          <p:cNvSpPr/>
          <p:nvPr/>
        </p:nvSpPr>
        <p:spPr>
          <a:xfrm>
            <a:off x="12058649" y="3352800"/>
            <a:ext cx="1238251" cy="1362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B60BC0-DABD-BA91-2959-825726A7E510}"/>
              </a:ext>
            </a:extLst>
          </p:cNvPr>
          <p:cNvSpPr/>
          <p:nvPr/>
        </p:nvSpPr>
        <p:spPr>
          <a:xfrm>
            <a:off x="14678025" y="3990975"/>
            <a:ext cx="880778" cy="8858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123F5B-59DB-9203-3E64-097E812DBA4C}"/>
              </a:ext>
            </a:extLst>
          </p:cNvPr>
          <p:cNvSpPr txBox="1"/>
          <p:nvPr/>
        </p:nvSpPr>
        <p:spPr>
          <a:xfrm>
            <a:off x="9937297" y="9492975"/>
            <a:ext cx="9158514" cy="496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1655"/>
              </a:lnSpc>
            </a:pPr>
            <a:r>
              <a:rPr lang="en-CA" sz="3200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Anomaly Score</a:t>
            </a:r>
          </a:p>
        </p:txBody>
      </p:sp>
    </p:spTree>
    <p:extLst>
      <p:ext uri="{BB962C8B-B14F-4D97-AF65-F5344CB8AC3E}">
        <p14:creationId xmlns:p14="http://schemas.microsoft.com/office/powerpoint/2010/main" val="2514163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39EE93E7-DD9E-0517-A111-61E8723C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175" y="5657078"/>
            <a:ext cx="7639613" cy="452537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7250" y="533400"/>
            <a:ext cx="1393508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1227166"/>
            <a:ext cx="18230851" cy="73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91655"/>
              </a:lnSpc>
            </a:pPr>
            <a:r>
              <a:rPr lang="en-US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No Method Prevailed Across Every Dataset &amp; Control</a:t>
            </a:r>
          </a:p>
        </p:txBody>
      </p:sp>
      <p:sp>
        <p:nvSpPr>
          <p:cNvPr id="80" name="Text 78"/>
          <p:cNvSpPr/>
          <p:nvPr/>
        </p:nvSpPr>
        <p:spPr>
          <a:xfrm>
            <a:off x="841942" y="6495088"/>
            <a:ext cx="7730557" cy="264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Different datasets </a:t>
            </a:r>
            <a:r>
              <a:rPr lang="en-US" sz="2200" dirty="0" err="1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favoured</a:t>
            </a:r>
            <a:r>
              <a:rPr lang="en-US" sz="22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 different combinations</a:t>
            </a:r>
            <a:br>
              <a:rPr lang="en-US" sz="2200" dirty="0">
                <a:solidFill>
                  <a:srgbClr val="16202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</a:br>
            <a:endParaRPr lang="en-US" sz="2200" dirty="0">
              <a:latin typeface="Avenir Next LT Pro" panose="020B0504020202020204" pitchFamily="34" charset="0"/>
            </a:endParaRPr>
          </a:p>
          <a:p>
            <a:pPr marL="285750" indent="-285750" algn="l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venir Next LT Pro" panose="020B0504020202020204" pitchFamily="34" charset="0"/>
              </a:rPr>
              <a:t>Some methods were useful under particular conditions</a:t>
            </a:r>
          </a:p>
          <a:p>
            <a:pPr marL="285750" indent="-285750" algn="l">
              <a:lnSpc>
                <a:spcPct val="1225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Avenir Next LT Pro" panose="020B0504020202020204" pitchFamily="34" charset="0"/>
            </a:endParaRPr>
          </a:p>
          <a:p>
            <a:pPr marL="285750" indent="-285750" algn="l">
              <a:lnSpc>
                <a:spcPct val="1225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Avenir Next LT Pro" panose="020B0504020202020204" pitchFamily="34" charset="0"/>
              </a:rPr>
              <a:t>No method consistently beat its controls, led every dataset, and produced useful early-review rankings.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A466E7A1-8DF0-3979-283B-FC565DFC9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AB06AEA9-CD3C-F57B-4457-E34116E35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683FAD0C-2CDA-3832-30F3-6A31A2B05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338804"/>
              </p:ext>
            </p:extLst>
          </p:nvPr>
        </p:nvGraphicFramePr>
        <p:xfrm>
          <a:off x="734388" y="2270445"/>
          <a:ext cx="15773400" cy="270408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58043761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95786193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713057653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69264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b="1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Dataset (frozen)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b="1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Highest-AP configuration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b="1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AP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b="1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Recall@100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447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ACME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 err="1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GraphSAGE</a:t>
                      </a: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 + 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0.0498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66.7%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744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CIC-IDS2017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Raw features + Isolation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0.0373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05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UNSW-NB15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DOMINANT + reconstruction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0.5845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2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CA" sz="2200" kern="1200" dirty="0">
                          <a:solidFill>
                            <a:srgbClr val="16202A"/>
                          </a:solidFill>
                          <a:latin typeface="Avenir Next LT Pro" panose="020B0504020202020204" pitchFamily="34" charset="0"/>
                          <a:cs typeface="Arial" pitchFamily="34" charset="-120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23124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7250" y="533400"/>
            <a:ext cx="1672284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16202A"/>
                </a:solidFill>
                <a:latin typeface="Avenir Next LT Pro" panose="020B0504020202020204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425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7250" y="1309090"/>
            <a:ext cx="17070706" cy="1833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81655"/>
              </a:lnSpc>
            </a:pPr>
            <a:r>
              <a:rPr lang="en-US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The Contribution is the Procedure</a:t>
            </a:r>
          </a:p>
          <a:p>
            <a:pPr>
              <a:lnSpc>
                <a:spcPct val="81655"/>
              </a:lnSpc>
            </a:pPr>
            <a:br>
              <a:rPr lang="en-US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</a:br>
            <a:r>
              <a:rPr lang="en-US" sz="51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Not a Universal Detector</a:t>
            </a:r>
          </a:p>
        </p:txBody>
      </p:sp>
      <p:sp>
        <p:nvSpPr>
          <p:cNvPr id="6" name="Text 4"/>
          <p:cNvSpPr/>
          <p:nvPr/>
        </p:nvSpPr>
        <p:spPr>
          <a:xfrm>
            <a:off x="857250" y="3534122"/>
            <a:ext cx="16573500" cy="892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826"/>
              </a:lnSpc>
              <a:buNone/>
            </a:pPr>
            <a:r>
              <a:rPr lang="en-US" sz="2550" dirty="0" err="1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MetaTriage</a:t>
            </a:r>
            <a:r>
              <a:rPr lang="en-US" sz="2550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 turns method selection from an implicit search into an explicit, controlled, and reproducible analysis</a:t>
            </a:r>
            <a:endParaRPr lang="en-US" sz="2550" dirty="0">
              <a:latin typeface="Avenir Next LT Pro" panose="020B05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7250" y="4606493"/>
            <a:ext cx="3829050" cy="1491343"/>
          </a:xfrm>
          <a:prstGeom prst="roundRect">
            <a:avLst>
              <a:gd name="adj" fmla="val 7664"/>
            </a:avLst>
          </a:prstGeom>
          <a:solidFill>
            <a:srgbClr val="F7F8FA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8443" y="4878636"/>
            <a:ext cx="3571331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8324A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950" b="1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8443" y="5292293"/>
            <a:ext cx="3571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Find candidate anomalous structure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3450" y="5285490"/>
            <a:ext cx="304800" cy="1333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105400" y="4606493"/>
            <a:ext cx="3829050" cy="1491343"/>
          </a:xfrm>
          <a:prstGeom prst="roundRect">
            <a:avLst>
              <a:gd name="adj" fmla="val 7664"/>
            </a:avLst>
          </a:prstGeom>
          <a:solidFill>
            <a:srgbClr val="F7F8FA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96593" y="4878636"/>
            <a:ext cx="3571331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950" b="1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Digest</a:t>
            </a:r>
          </a:p>
        </p:txBody>
      </p:sp>
      <p:sp>
        <p:nvSpPr>
          <p:cNvPr id="13" name="Text 10"/>
          <p:cNvSpPr/>
          <p:nvPr/>
        </p:nvSpPr>
        <p:spPr>
          <a:xfrm>
            <a:off x="5396593" y="5292293"/>
            <a:ext cx="33440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Explain representations, controls, and signal geometry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601" y="5285490"/>
            <a:ext cx="304800" cy="1333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53551" y="4606493"/>
            <a:ext cx="3829050" cy="1491343"/>
          </a:xfrm>
          <a:prstGeom prst="roundRect">
            <a:avLst>
              <a:gd name="adj" fmla="val 7664"/>
            </a:avLst>
          </a:prstGeom>
          <a:solidFill>
            <a:srgbClr val="F7F8FA"/>
          </a:solidFill>
          <a:ln w="5443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644743" y="4878636"/>
            <a:ext cx="3571331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Evaluate</a:t>
            </a:r>
          </a:p>
        </p:txBody>
      </p:sp>
      <p:sp>
        <p:nvSpPr>
          <p:cNvPr id="17" name="Text 13"/>
          <p:cNvSpPr/>
          <p:nvPr/>
        </p:nvSpPr>
        <p:spPr>
          <a:xfrm>
            <a:off x="9644743" y="5292293"/>
            <a:ext cx="33440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Propose one behaviourally justified method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39751" y="5285490"/>
            <a:ext cx="304800" cy="1333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3601701" y="4606493"/>
            <a:ext cx="3829050" cy="1491343"/>
          </a:xfrm>
          <a:prstGeom prst="roundRect">
            <a:avLst>
              <a:gd name="adj" fmla="val 7664"/>
            </a:avLst>
          </a:prstGeom>
          <a:solidFill>
            <a:srgbClr val="EAF2F8"/>
          </a:solidFill>
          <a:ln w="5443">
            <a:solidFill>
              <a:srgbClr val="3973A5"/>
            </a:solidFill>
            <a:prstDash val="solid"/>
          </a:ln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3892894" y="4878636"/>
            <a:ext cx="3571331" cy="337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8324A"/>
                </a:solidFill>
                <a:latin typeface="Avenir Next LT Pro" panose="020B0504020202020204" pitchFamily="34" charset="0"/>
                <a:cs typeface="Arial" pitchFamily="34" charset="-120"/>
              </a:rPr>
              <a:t>Test</a:t>
            </a:r>
          </a:p>
        </p:txBody>
      </p:sp>
      <p:sp>
        <p:nvSpPr>
          <p:cNvPr id="21" name="Text 16"/>
          <p:cNvSpPr/>
          <p:nvPr/>
        </p:nvSpPr>
        <p:spPr>
          <a:xfrm>
            <a:off x="13892894" y="5292293"/>
            <a:ext cx="334406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00" dirty="0">
                <a:solidFill>
                  <a:srgbClr val="5F6B76"/>
                </a:solidFill>
                <a:latin typeface="Avenir Next LT Pro" panose="020B0504020202020204" pitchFamily="34" charset="0"/>
                <a:ea typeface="Arial" pitchFamily="34" charset="-122"/>
                <a:cs typeface="Arial" pitchFamily="34" charset="-120"/>
              </a:rPr>
              <a:t>Compare it once against a declared control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857250" y="6867488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>
              <a:latin typeface="Avenir Next LT Pro" panose="020B0504020202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015297" y="7369724"/>
            <a:ext cx="12257405" cy="1363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200" i="1" dirty="0">
                <a:solidFill>
                  <a:srgbClr val="16202A"/>
                </a:solidFill>
                <a:latin typeface="Avenir Next LT Pro" panose="020B0504020202020204" pitchFamily="34" charset="0"/>
                <a:ea typeface="Georgia" pitchFamily="34" charset="-122"/>
                <a:cs typeface="Georgia" pitchFamily="34" charset="-120"/>
              </a:rPr>
              <a:t>If a universal method exists, this is a way to find and verify it. If it does not, this is a way to show where and why methods differ.</a:t>
            </a:r>
            <a:endParaRPr lang="en-US" sz="3200" dirty="0">
              <a:latin typeface="Avenir Next LT Pro" panose="020B05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960FA16-4263-99FF-888C-C59E4914B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1C35F2A-7122-A40F-9262-3F47B100A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19843"/>
            <a:ext cx="16573501" cy="16329"/>
          </a:xfrm>
          <a:prstGeom prst="rect">
            <a:avLst/>
          </a:prstGeom>
          <a:solidFill>
            <a:srgbClr val="16202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857250" y="533400"/>
            <a:ext cx="1216394" cy="272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300" kern="0" spc="142" dirty="0">
                <a:solidFill>
                  <a:srgbClr val="16202A"/>
                </a:solidFill>
                <a:latin typeface="Avenir Next LT Pro" panose="020B0504020202020204" pitchFamily="34" charset="0"/>
                <a:cs typeface="Courier New" pitchFamily="34" charset="-120"/>
              </a:rPr>
              <a:t>QUESTIONS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8533"/>
          <a:stretch>
            <a:fillRect/>
          </a:stretch>
        </p:blipFill>
        <p:spPr>
          <a:xfrm>
            <a:off x="0" y="2561772"/>
            <a:ext cx="18288001" cy="63230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50" y="2948442"/>
            <a:ext cx="14668501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1655"/>
              </a:lnSpc>
            </a:pPr>
            <a:r>
              <a:rPr lang="en-US" sz="6600" b="1" kern="0" spc="-88" dirty="0">
                <a:solidFill>
                  <a:srgbClr val="16202A"/>
                </a:solidFill>
                <a:latin typeface="Avenir Next LT Pro" panose="020B0504020202020204" pitchFamily="34" charset="0"/>
              </a:rPr>
              <a:t>Questions</a:t>
            </a:r>
          </a:p>
        </p:txBody>
      </p:sp>
      <p:sp>
        <p:nvSpPr>
          <p:cNvPr id="7" name="Text 4"/>
          <p:cNvSpPr/>
          <p:nvPr/>
        </p:nvSpPr>
        <p:spPr>
          <a:xfrm>
            <a:off x="857250" y="4224792"/>
            <a:ext cx="1240880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6189"/>
              </a:lnSpc>
            </a:pP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What should remain fixed? What should adapt when telemetry </a:t>
            </a:r>
            <a:r>
              <a:rPr lang="en-US" sz="2400" dirty="0" err="1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behaviour</a:t>
            </a:r>
            <a:r>
              <a:rPr lang="en-US" sz="2400" dirty="0">
                <a:solidFill>
                  <a:srgbClr val="16202A"/>
                </a:solidFill>
                <a:latin typeface="Avenir Next LT Pro" panose="020B0504020202020204" pitchFamily="34" charset="0"/>
                <a:cs typeface="Arial" pitchFamily="34" charset="-120"/>
              </a:rPr>
              <a:t> changes?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7D3B08-9360-9D0A-1766-9C2007524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64" y="9719384"/>
            <a:ext cx="1394579" cy="55770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81D9278-17A7-332E-E1F5-8794987CF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6665" y="9757815"/>
            <a:ext cx="2690020" cy="478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73B985-D1B5-4251-84AE-07B8E05624E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eb2053d-b07e-4d85-a0e2-0ebe381a2f6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3815</TotalTime>
  <Words>2850</Words>
  <Application>Microsoft Office PowerPoint</Application>
  <PresentationFormat>Custom</PresentationFormat>
  <Paragraphs>432</Paragraphs>
  <Slides>32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Avenir Next LT Pro</vt:lpstr>
      <vt:lpstr>Avenir Next LT Pro Demi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Mekael Wasti</cp:lastModifiedBy>
  <cp:revision>18</cp:revision>
  <dcterms:created xsi:type="dcterms:W3CDTF">2026-08-06T15:37:03Z</dcterms:created>
  <dcterms:modified xsi:type="dcterms:W3CDTF">2026-08-11T13:39:24Z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479b79-36a9-4723-8bf6-a8305c972c78_Enabled">
    <vt:lpwstr>true</vt:lpwstr>
  </property>
  <property fmtid="{D5CDD505-2E9C-101B-9397-08002B2CF9AE}" pid="3" name="MSIP_Label_b1479b79-36a9-4723-8bf6-a8305c972c78_SetDate">
    <vt:lpwstr>2026-08-06T15:37:24Z</vt:lpwstr>
  </property>
  <property fmtid="{D5CDD505-2E9C-101B-9397-08002B2CF9AE}" pid="4" name="MSIP_Label_b1479b79-36a9-4723-8bf6-a8305c972c78_Method">
    <vt:lpwstr>Privileged</vt:lpwstr>
  </property>
  <property fmtid="{D5CDD505-2E9C-101B-9397-08002B2CF9AE}" pid="5" name="MSIP_Label_b1479b79-36a9-4723-8bf6-a8305c972c78_Name">
    <vt:lpwstr>UNCLASSIFIED OFFICIAL USE ONLY</vt:lpwstr>
  </property>
  <property fmtid="{D5CDD505-2E9C-101B-9397-08002B2CF9AE}" pid="6" name="MSIP_Label_b1479b79-36a9-4723-8bf6-a8305c972c78_SiteId">
    <vt:lpwstr>da9cbe40-ec1e-4997-afb3-17d87574571a</vt:lpwstr>
  </property>
  <property fmtid="{D5CDD505-2E9C-101B-9397-08002B2CF9AE}" pid="7" name="MSIP_Label_b1479b79-36a9-4723-8bf6-a8305c972c78_ActionId">
    <vt:lpwstr>dfb54f85-0312-4fa9-bdf9-4cd4be040a05</vt:lpwstr>
  </property>
  <property fmtid="{D5CDD505-2E9C-101B-9397-08002B2CF9AE}" pid="8" name="MSIP_Label_b1479b79-36a9-4723-8bf6-a8305c972c78_ContentBits">
    <vt:lpwstr>1</vt:lpwstr>
  </property>
  <property fmtid="{D5CDD505-2E9C-101B-9397-08002B2CF9AE}" pid="9" name="MSIP_Label_b1479b79-36a9-4723-8bf6-a8305c972c78_Tag">
    <vt:lpwstr>10, 0, 1, 1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UNCLASSIFIED//OFFICIAL USE ONLY / NON CLASSIFIÉ//RÉSERVÉ À DES FINS OFFICIELLES</vt:lpwstr>
  </property>
</Properties>
</file>